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d5b009a88f4053" /><Relationship Type="http://schemas.openxmlformats.org/officeDocument/2006/relationships/extended-properties" Target="/docProps/app.xml" Id="R8cdbdc6022314aed" /><Relationship Type="http://schemas.openxmlformats.org/officeDocument/2006/relationships/officeDocument" Target="/ppt/presentation.xml" Id="Rbd0981692a4d44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4f67b01bad4d28"/>
  </p:sldMasterIdLst>
  <p:notesMasterIdLst>
    <p:notesMasterId xmlns:r="http://schemas.openxmlformats.org/officeDocument/2006/relationships" r:id="Rf86fe402b5074c4b"/>
  </p:notesMasterIdLst>
  <p:sldIdLst>
    <p:sldId xmlns:r="http://schemas.openxmlformats.org/officeDocument/2006/relationships" id="256" r:id="Ra8ffb004611e4d21"/>
    <p:sldId xmlns:r="http://schemas.openxmlformats.org/officeDocument/2006/relationships" id="257" r:id="Rda4067ecdfc04cce"/>
    <p:sldId xmlns:r="http://schemas.openxmlformats.org/officeDocument/2006/relationships" id="258" r:id="R4757e9a1f340494a"/>
    <p:sldId xmlns:r="http://schemas.openxmlformats.org/officeDocument/2006/relationships" id="259" r:id="Refdcd7819d7b4b69"/>
    <p:sldId xmlns:r="http://schemas.openxmlformats.org/officeDocument/2006/relationships" id="260" r:id="Re7ee125450564e72"/>
    <p:sldId xmlns:r="http://schemas.openxmlformats.org/officeDocument/2006/relationships" id="261" r:id="R704f9f34c3294c88"/>
    <p:sldId xmlns:r="http://schemas.openxmlformats.org/officeDocument/2006/relationships" id="262" r:id="Rb5b27e65986f4a0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f20621656442f9" /><Relationship Type="http://schemas.openxmlformats.org/officeDocument/2006/relationships/slideMaster" Target="/ppt/slideMasters/slideMaster1.xml" Id="Rbd4f67b01bad4d28" /><Relationship Type="http://schemas.openxmlformats.org/officeDocument/2006/relationships/notesMaster" Target="/ppt/notesMasters/notesMaster1.xml" Id="Rf86fe402b5074c4b" /><Relationship Type="http://schemas.openxmlformats.org/officeDocument/2006/relationships/presProps" Target="/ppt/presProps.xml" Id="R2c66e3927bb44d3b" /><Relationship Type="http://schemas.openxmlformats.org/officeDocument/2006/relationships/viewProps" Target="/ppt/viewProps.xml" Id="R437f6d6167be4d14" /><Relationship Type="http://schemas.openxmlformats.org/officeDocument/2006/relationships/tableStyles" Target="/ppt/tableStyles.xml" Id="R649fac3112d44ee9" /><Relationship Type="http://schemas.openxmlformats.org/officeDocument/2006/relationships/slide" Target="/ppt/slides/slide1.xml" Id="Ra8ffb004611e4d21" /><Relationship Type="http://schemas.openxmlformats.org/officeDocument/2006/relationships/slide" Target="/ppt/slides/slide2.xml" Id="Rda4067ecdfc04cce" /><Relationship Type="http://schemas.openxmlformats.org/officeDocument/2006/relationships/slide" Target="/ppt/slides/slide3.xml" Id="R4757e9a1f340494a" /><Relationship Type="http://schemas.openxmlformats.org/officeDocument/2006/relationships/slide" Target="/ppt/slides/slide4.xml" Id="Refdcd7819d7b4b69" /><Relationship Type="http://schemas.openxmlformats.org/officeDocument/2006/relationships/slide" Target="/ppt/slides/slide5.xml" Id="Re7ee125450564e72" /><Relationship Type="http://schemas.openxmlformats.org/officeDocument/2006/relationships/slide" Target="/ppt/slides/slide6.xml" Id="R704f9f34c3294c88" /><Relationship Type="http://schemas.openxmlformats.org/officeDocument/2006/relationships/slide" Target="/ppt/slides/slide7.xml" Id="Rb5b27e65986f4a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2fbd1b0ce34f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e0c592dc464d4c" /><Relationship Type="http://schemas.openxmlformats.org/officeDocument/2006/relationships/notesMaster" Target="/ppt/notesMasters/notesMaster1.xml" Id="Rf20ca79056d240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b617d62fc14105" /><Relationship Type="http://schemas.openxmlformats.org/officeDocument/2006/relationships/notesMaster" Target="/ppt/notesMasters/notesMaster1.xml" Id="R7098e62b136845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a1a873b7df41f0" /><Relationship Type="http://schemas.openxmlformats.org/officeDocument/2006/relationships/notesMaster" Target="/ppt/notesMasters/notesMaster1.xml" Id="Rc93cd92e3a7c44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787b2ebe5ba4956" /><Relationship Type="http://schemas.openxmlformats.org/officeDocument/2006/relationships/notesMaster" Target="/ppt/notesMasters/notesMaster1.xml" Id="R89ac6828589f49d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693df6be1d47c7" /><Relationship Type="http://schemas.openxmlformats.org/officeDocument/2006/relationships/notesMaster" Target="/ppt/notesMasters/notesMaster1.xml" Id="Rac66b7fdcac44f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4fd5b10e604736" /><Relationship Type="http://schemas.openxmlformats.org/officeDocument/2006/relationships/notesMaster" Target="/ppt/notesMasters/notesMaster1.xml" Id="R4d7aaa865b04422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b49c4feb9804f69" /><Relationship Type="http://schemas.openxmlformats.org/officeDocument/2006/relationships/notesMaster" Target="/ppt/notesMasters/notesMaster1.xml" Id="R2c92d193265e4f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Reproduction_repo/tools/RUN_REPRODUCTION.ps1</a:t>
            </a:r>
            <a:endParaRPr/>
          </a:p>
          <a:p xmlns:a="http://schemas.openxmlformats.org/drawingml/2006/main">
            <a:r>
              <a:t>- Reproduction_repo/tools/BUILD_THESIS_OUTPUTS.ps1</a:t>
            </a:r>
            <a:endParaRPr/>
          </a:p>
          <a:p xmlns:a="http://schemas.openxmlformats.org/drawingml/2006/main">
            <a:r>
              <a:t>- Reproduction_repo/docs/RUN_VERIFICATION.md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Reproduction_repo/src/credit_recourse/original/oracle/stage0/build_stage0_foundation_from_raw.py</a:t>
            </a:r>
            <a:endParaRPr/>
          </a:p>
          <a:p xmlns:a="http://schemas.openxmlformats.org/drawingml/2006/main">
            <a:r>
              <a:t>- Reproduction_repo/src/credit_recourse/original/oracle/final_stage0_adapter.py</a:t>
            </a:r>
            <a:endParaRPr/>
          </a:p>
          <a:p xmlns:a="http://schemas.openxmlformats.org/drawingml/2006/main">
            <a:r>
              <a:t>- Reproduction_repo/data/thesis_outputs/NUMERIC_CLAIMS.xlsx</a:t>
            </a:r>
            <a:endParaRPr/>
          </a:p>
          <a:p xmlns:a="http://schemas.openxmlformats.org/drawingml/2006/main">
            <a:r>
              <a:t>- Reproduction_repo/docs/KNOWN_LIMITATIONS.md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Reproduction_repo/src/credit_recourse/original/run_thesis_repro.ps1</a:t>
            </a:r>
            <a:endParaRPr/>
          </a:p>
          <a:p xmlns:a="http://schemas.openxmlformats.org/drawingml/2006/main">
            <a:r>
              <a:t>- Reproduction_repo/data/runs/V11_ORACLE_RL_CLEAN_ACTUAL/RUN_INFO.txt</a:t>
            </a:r>
            <a:endParaRPr/>
          </a:p>
          <a:p xmlns:a="http://schemas.openxmlformats.org/drawingml/2006/main">
            <a:r>
              <a:t>- Reproduction_repo/docs/RUN_VERIFICATION.md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Reproduction_repo/src/credit_recourse/original/final_stage7_llm_action_generation/pipeline.py</a:t>
            </a:r>
            <a:endParaRPr/>
          </a:p>
          <a:p xmlns:a="http://schemas.openxmlformats.org/drawingml/2006/main">
            <a:r>
              <a:t>- Reproduction_repo/src/credit_recourse/original/eval/final_stage8_llm_multi_oracle_eval</a:t>
            </a:r>
            <a:endParaRPr/>
          </a:p>
          <a:p xmlns:a="http://schemas.openxmlformats.org/drawingml/2006/main">
            <a:r>
              <a:t>- Reproduction_repo/src/credit_recourse/original/eval/final_stage9_llm_rl_comparison</a:t>
            </a:r>
            <a:endParaRPr/>
          </a:p>
          <a:p xmlns:a="http://schemas.openxmlformats.org/drawingml/2006/main">
            <a:r>
              <a:t>- Reproduction_repo/docs/KNOWN_LIMITATIONS.md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Reproduction_repo/tools/BUILD_THESIS_OUTPUTS.ps1</a:t>
            </a:r>
            <a:endParaRPr/>
          </a:p>
          <a:p xmlns:a="http://schemas.openxmlformats.org/drawingml/2006/main">
            <a:r>
              <a:t>- Reproduction_repo/data/thesis_outputs/THESIS_OUTPUT_INDEX.xlsx</a:t>
            </a:r>
            <a:endParaRPr/>
          </a:p>
          <a:p xmlns:a="http://schemas.openxmlformats.org/drawingml/2006/main">
            <a:r>
              <a:t>- Reproduction_repo/data/thesis_outputs/NUMERIC_CLAIMS.xlsx</a:t>
            </a:r>
            <a:endParaRPr/>
          </a:p>
          <a:p xmlns:a="http://schemas.openxmlformats.org/drawingml/2006/main">
            <a:r>
              <a:t>- Reproduction_repo/docs/RUN_VERIFICATION.md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Reproduction_repo/docs/thesis/canonical_thesis.docx</a:t>
            </a:r>
            <a:endParaRPr/>
          </a:p>
          <a:p xmlns:a="http://schemas.openxmlformats.org/drawingml/2006/main">
            <a:r>
              <a:t>- Reproduction_repo/data/thesis_outputs/THESIS_OUTPUT_INDEX.xlsx</a:t>
            </a:r>
            <a:endParaRPr/>
          </a:p>
          <a:p xmlns:a="http://schemas.openxmlformats.org/drawingml/2006/main">
            <a:r>
              <a:t>- Reproduction_repo/docs/RUN_VERIFICATION.md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Reproduction_repo/data/runs/V11_FINAL_FROZEN_REPLAY_RESUME/RUN_INFO.txt</a:t>
            </a:r>
            <a:endParaRPr/>
          </a:p>
          <a:p xmlns:a="http://schemas.openxmlformats.org/drawingml/2006/main">
            <a:r>
              <a:t>- Reproduction_repo/data/runs/V11_ORACLE_CLEAN_ACTUAL/RUN_INFO.txt</a:t>
            </a:r>
            <a:endParaRPr/>
          </a:p>
          <a:p xmlns:a="http://schemas.openxmlformats.org/drawingml/2006/main">
            <a:r>
              <a:t>- Reproduction_repo/data/runs/V11_ORACLE_RL_CLEAN_ACTUAL/RUN_INFO.txt</a:t>
            </a:r>
            <a:endParaRPr/>
          </a:p>
          <a:p xmlns:a="http://schemas.openxmlformats.org/drawingml/2006/main">
            <a:r>
              <a:t>- Reproduction_repo/docs/KNOWN_LIMITATIONS.md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2066c79a1b4be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fe73ba4ca34bd8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ATLAS"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F3BE4B7-506D-4520-93F1-D567CBF4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33DD03A-327E-4162-9600-8662D410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519672"/>
            <a:ext cx="6858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THESIS REPRODUCTION · TRACEABILITY ATLAS</a:t>
            </a:r>
            <a:endParaRPr sz="7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8637446-10C9-4E5E-AAEB-F03F1AE66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6519672"/>
            <a:ext cx="333756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64748B"/>
                </a:solidFill>
                <a:latin typeface="Malgun Gothic"/>
                <a:ea typeface="Malgun Gothic"/>
                <a:cs typeface="Malgun Gothic"/>
              </a:rPr>
              <a:t>원본 Stage0–9 + V10 확장분석</a:t>
            </a:r>
            <a:endParaRPr sz="7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700CD13E-67A9-4CA4-AB12-4BEA02B16566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95760" y="651967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1002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8eea5ad66743e9" /><Relationship Type="http://schemas.openxmlformats.org/officeDocument/2006/relationships/slideLayout" Target="/ppt/slideLayouts/slideLayout1.xml" Id="Rd143c92a66df4233" /><Relationship Type="http://schemas.openxmlformats.org/officeDocument/2006/relationships/slideLayout" Target="/ppt/slideLayouts/slideLayout2.xml" Id="R385985a4ea09404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3173873-3A2D-4AD6-A183-B018027B9CB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95760" y="651967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null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43c92a66df4233"/>
    <p:sldLayoutId xmlns:r="http://schemas.openxmlformats.org/officeDocument/2006/relationships" id="2147483650" r:id="R385985a4ea094044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15ff099ac74fbf" /><Relationship Type="http://schemas.openxmlformats.org/officeDocument/2006/relationships/notesSlide" Target="/ppt/notesSlides/notesSlide1.xml" Id="R51048e2d426d4a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3ff60796f44cfa" /><Relationship Type="http://schemas.openxmlformats.org/officeDocument/2006/relationships/notesSlide" Target="/ppt/notesSlides/notesSlide2.xml" Id="Rb928bd88d9814a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3fc9f91acf47ce" /><Relationship Type="http://schemas.openxmlformats.org/officeDocument/2006/relationships/notesSlide" Target="/ppt/notesSlides/notesSlide3.xml" Id="R2da48ab8c20c490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dbb26295c64d05" /><Relationship Type="http://schemas.openxmlformats.org/officeDocument/2006/relationships/notesSlide" Target="/ppt/notesSlides/notesSlide4.xml" Id="R4febe443fdd342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1ca07300724f55" /><Relationship Type="http://schemas.openxmlformats.org/officeDocument/2006/relationships/notesSlide" Target="/ppt/notesSlides/notesSlide5.xml" Id="R179934286ed14dc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c5f107b851415e" /><Relationship Type="http://schemas.openxmlformats.org/officeDocument/2006/relationships/notesSlide" Target="/ppt/notesSlides/notesSlide6.xml" Id="R7be5debd8fab48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609fd42b0e4f2a" /><Relationship Type="http://schemas.openxmlformats.org/officeDocument/2006/relationships/notesSlide" Target="/ppt/notesSlides/notesSlide7.xml" Id="R7c6dcff2c3214a1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8268503-FC4C-4CE6-ACA2-8728E5258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92608"/>
            <a:ext cx="112471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1. 저장소 구조와 5개 실행 모드</a:t>
            </a:r>
            <a:endParaRPr sz="2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DF7A6EF-EBF8-43DD-A0AA-52EC7C8F2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713232"/>
            <a:ext cx="10972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공개 runner는 두 개뿐이다: 5개 실행 mode와 논문 Excel 생성을 분리한다.</a:t>
            </a:r>
            <a:endParaRPr sz="10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1AFE509-D43C-431E-8FC4-A775F8B7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07008"/>
            <a:ext cx="1965960" cy="96012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397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9CA3AF">
                <a:alpha val="12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973D12E-589B-463C-8F85-6C3503BF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07008"/>
            <a:ext cx="73152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F034E20-5EFA-410D-8033-C82FCC5C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07592"/>
            <a:ext cx="171907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src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E9C7A88-C360-4E53-B196-B42E4ADE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600200"/>
            <a:ext cx="171907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4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MEANING  원본 Stage0–9 + V10 확장분석</a:t>
            </a:r>
            <a:endParaRPr sz="84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42E4D0D-BDE2-4568-A2A5-6BA8D672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207008"/>
            <a:ext cx="1965960" cy="96012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6F3"/>
          </a:solidFill>
          <a:ln xmlns:a="http://schemas.openxmlformats.org/drawingml/2006/main" w="1397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9CA3AF">
                <a:alpha val="12000"/>
              </a:srgbClr>
            </a:outerShdw>
          </a:effectLst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A4506DE-05C8-463F-AD99-425A812F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207008"/>
            <a:ext cx="73152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F9E82CE-D336-43CC-B9B3-9E403992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368" y="1307592"/>
            <a:ext cx="171907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tools</a:t>
            </a:r>
            <a:endParaRPr sz="12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4E53B45-ED6A-4BA2-8F5E-B1BE7BC0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368" y="1600200"/>
            <a:ext cx="171907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4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MEANING  공개 runner 2개만</a:t>
            </a:r>
            <a:endParaRPr sz="84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19615404-0B09-4910-AFDC-C20E91A7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207008"/>
            <a:ext cx="1965960" cy="96012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9CA3AF">
                <a:alpha val="12000"/>
              </a:srgbClr>
            </a:outerShdw>
          </a:effectLst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71EC0FA7-3239-4BAD-B5EE-37EAD3784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207008"/>
            <a:ext cx="73152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50AB5BC-063B-4086-96FD-B2152EAE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0368" y="1307592"/>
            <a:ext cx="171907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data</a:t>
            </a:r>
            <a:endParaRPr sz="12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B5ABA1B-9DBC-47B1-8F2F-BF1CED58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0368" y="1600200"/>
            <a:ext cx="171907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4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MEANING  clean/replay 작업 산출물</a:t>
            </a:r>
            <a:endParaRPr sz="84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AF0E2CC-7465-4F64-909F-C1D9E0FD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1207008"/>
            <a:ext cx="1965960" cy="96012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97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9CA3AF">
                <a:alpha val="12000"/>
              </a:srgbClr>
            </a:outerShdw>
          </a:effectLst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2B5679E8-BCD6-446C-8B50-DBAB4899A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1207008"/>
            <a:ext cx="73152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BFFA9C81-7CDF-43BE-BFB5-DF198273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368" y="1307592"/>
            <a:ext cx="171907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frozen_outputs</a:t>
            </a:r>
            <a:endParaRPr sz="12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EE7C5C37-2F88-4D44-9899-31FAF225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368" y="1600200"/>
            <a:ext cx="171907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4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MEANING  읽기 전용 역사 snapshot</a:t>
            </a:r>
            <a:endParaRPr sz="84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274E47EE-53AB-47D8-994B-EEF66244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207008"/>
            <a:ext cx="1965960" cy="96012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9CA3AF">
                <a:alpha val="12000"/>
              </a:srgbClr>
            </a:outerShdw>
          </a:effectLst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62246ACB-13F8-4285-82A0-C97DC7AE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1207008"/>
            <a:ext cx="73152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CA1947A3-EEA6-448D-A504-3A0E27FC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368" y="1307592"/>
            <a:ext cx="171907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docs</a:t>
            </a:r>
            <a:endParaRPr sz="12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95F55F0-2C86-4936-803F-C43BAFE7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2368" y="1600200"/>
            <a:ext cx="171907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4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MEANING  논문·계통도·실행기록</a:t>
            </a:r>
            <a:endParaRPr sz="84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C897C96-D8F6-48DE-A398-BF3286AF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404872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7324D"/>
                </a:solidFill>
                <a:latin typeface="Consolas"/>
                <a:ea typeface="Consolas"/>
                <a:cs typeface="Consolas"/>
              </a:rPr>
              <a:t>tools/RUN_REPRODUCTION.ps1</a:t>
            </a:r>
            <a:endParaRPr sz="120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7AE72CEF-1EA6-4ABB-BB2A-ACD215E0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816352"/>
            <a:ext cx="347472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C4FA4D80-4C91-469C-B310-829D32C0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0360"/>
            <a:ext cx="21945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  <a:endParaRPr sz="82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EAB5078F-1A54-44E6-968F-19918C92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798064"/>
            <a:ext cx="457200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156264FE-5D75-47EE-8765-F6C7B948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2880360"/>
            <a:ext cx="150876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8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FrozenReplay</a:t>
            </a:r>
            <a:endParaRPr sz="98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C2DEE895-394F-49AF-97A9-8B572F46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880360"/>
            <a:ext cx="173736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6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frozen → V10 analysis</a:t>
            </a:r>
            <a:endParaRPr sz="86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010DCDC7-92A7-4D9E-9E6E-31B83D6C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80360"/>
            <a:ext cx="8686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20">
                <a:solidFill>
                  <a:srgbClr val="0F766E"/>
                </a:solidFill>
                <a:latin typeface="Malgun Gothic"/>
                <a:ea typeface="Malgun Gothic"/>
                <a:cs typeface="Malgun Gothic"/>
              </a:rPr>
              <a:t>학습/API 없음</a:t>
            </a:r>
            <a:endParaRPr sz="82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A47E10A3-1518-4654-AD66-8674111A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419856"/>
            <a:ext cx="347472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B29141E7-BB00-4B47-94EA-EE7EB014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3864"/>
            <a:ext cx="21945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  <a:endParaRPr sz="82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67CB1625-B4E7-4F0A-B93C-DF110E05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01568"/>
            <a:ext cx="457200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DE8F37ED-B982-40C2-A27C-A1D1E6CF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483864"/>
            <a:ext cx="150876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8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OracleClean</a:t>
            </a:r>
            <a:endParaRPr sz="98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3056BB72-9478-4CE5-B0B5-131F3A40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83864"/>
            <a:ext cx="173736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6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raw → Oracle</a:t>
            </a:r>
            <a:endParaRPr sz="86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33871A98-2976-4516-8045-78EBD1D0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83864"/>
            <a:ext cx="8686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20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Stage0–1</a:t>
            </a:r>
            <a:endParaRPr sz="820"/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C3B2C9BC-DF01-4969-9D59-8A8DB2CD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4023360"/>
            <a:ext cx="347472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2E2C8572-C9CF-446E-AF38-287B1825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7368"/>
            <a:ext cx="21945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  <a:endParaRPr sz="820"/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A62D36D7-7E81-4AC3-BF52-46A37FC5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005072"/>
            <a:ext cx="457200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  <a:prstDash val="solid"/>
          </a:ln>
        </p:spPr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9E7F94A3-46D8-4334-9145-D2F7ABA2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087368"/>
            <a:ext cx="150876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8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OracleRLClean</a:t>
            </a:r>
            <a:endParaRPr sz="980"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37942B18-F6A2-4D3C-98CE-16CA8C44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87368"/>
            <a:ext cx="173736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6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raw → Oracle → RL</a:t>
            </a:r>
            <a:endParaRPr sz="860"/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9D95759F-333D-4311-BDC6-0F5B64B1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87368"/>
            <a:ext cx="8686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20">
                <a:solidFill>
                  <a:srgbClr val="2563EB"/>
                </a:solidFill>
                <a:latin typeface="Malgun Gothic"/>
                <a:ea typeface="Malgun Gothic"/>
                <a:cs typeface="Malgun Gothic"/>
              </a:rPr>
              <a:t>Stage2–6</a:t>
            </a:r>
            <a:endParaRPr sz="820"/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58A99F66-BCAD-4505-AFB5-DDF9AEF6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4626864"/>
            <a:ext cx="347472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53F46915-24E0-4D65-BF63-38C24714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0872"/>
            <a:ext cx="21945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  <a:endParaRPr sz="820"/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7CB124F9-3FE6-40ED-AE4A-1C462F96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608576"/>
            <a:ext cx="457200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  <a:prstDash val="solid"/>
          </a:ln>
        </p:spPr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DF8DB90C-0A6B-4CC2-BF82-C65A52CB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690872"/>
            <a:ext cx="150876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8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OracleRLLLMClean</a:t>
            </a:r>
            <a:endParaRPr sz="980"/>
          </a:p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114A25C5-A2F4-414E-B59D-41766E19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690872"/>
            <a:ext cx="173736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6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… → live LLM</a:t>
            </a:r>
            <a:endParaRPr sz="860"/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96FBE524-E844-4E54-BE84-98DDDF0E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90872"/>
            <a:ext cx="8686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20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Stage7–9</a:t>
            </a:r>
            <a:endParaRPr sz="820"/>
          </a:p>
        </p:txBody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FEC22E15-9707-4C51-A115-0E1BE7D1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5230368"/>
            <a:ext cx="347472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4CF7C52D-8899-4CB7-95C1-70EE2AFB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4376"/>
            <a:ext cx="21945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  <a:endParaRPr sz="820"/>
          </a:p>
        </p:txBody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E310DB88-8A90-48FA-81F9-BCFE191E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212080"/>
            <a:ext cx="457200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  <a:prstDash val="solid"/>
          </a:ln>
        </p:spPr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DCFA566B-6C47-4ACE-BD57-646CF6CF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294376"/>
            <a:ext cx="150876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8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FullClean</a:t>
            </a:r>
            <a:endParaRPr sz="980"/>
          </a:p>
        </p:txBody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38F84D44-F148-4EF3-A263-989FBDBA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294376"/>
            <a:ext cx="173736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6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… → V10 analysis</a:t>
            </a:r>
            <a:endParaRPr sz="860"/>
          </a:p>
        </p:txBody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4DC203AE-6915-42A5-BAF0-CA826808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294376"/>
            <a:ext cx="86868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20">
                <a:solidFill>
                  <a:srgbClr val="D97706"/>
                </a:solidFill>
                <a:latin typeface="Malgun Gothic"/>
                <a:ea typeface="Malgun Gothic"/>
                <a:cs typeface="Malgun Gothic"/>
              </a:rPr>
              <a:t>전체</a:t>
            </a:r>
            <a:endParaRPr sz="820"/>
          </a:p>
        </p:txBody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923F5887-701B-4A78-B1F8-DE396D1C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514600"/>
            <a:ext cx="5440680" cy="1353312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397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9CA3AF">
                <a:alpha val="12000"/>
              </a:srgbClr>
            </a:outerShdw>
          </a:effectLst>
        </p:spPr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B2690676-C669-4498-A3F6-958AF4C7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514600"/>
            <a:ext cx="73152" cy="13533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8102AE86-4290-4F87-95B0-C74AE0C0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2615184"/>
            <a:ext cx="51937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RUN 결과</a:t>
            </a:r>
            <a:endParaRPr sz="1200"/>
          </a:p>
        </p:txBody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4792060B-9AC6-4EFD-8EF9-1B87846C5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2907792"/>
            <a:ext cx="5193792" cy="896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PATH  data/final_freeze · data/analysis · data/runs/&lt;run_id&gt;</a:t>
            </a:r>
            <a:endParaRPr sz="730"/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PRODUCER  public runner → original/V10 entrypoint</a:t>
            </a:r>
            <a:endParaRPr sz="730"/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GRAIN  run_id × stage output</a:t>
            </a:r>
            <a:endParaRPr sz="730"/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MEANING  선택 mode의 실제 계산 결과</a:t>
            </a:r>
            <a:endParaRPr sz="730"/>
          </a:p>
        </p:txBody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F668E585-5889-4150-A973-95E1D17C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054096"/>
            <a:ext cx="4389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59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60" name="Text 58">
            <a:extLst xmlns:a="http://schemas.openxmlformats.org/drawingml/2006/main">
              <a:ext uri="{FF2B5EF4-FFF2-40B4-BE49-F238E27FC236}">
                <a16:creationId xmlns:a16="http://schemas.microsoft.com/office/drawing/2014/main" id="{13D78E73-0F9A-4B87-862F-BB4DC385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0096" y="2898648"/>
            <a:ext cx="100584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>
              <a:alpha val="92000"/>
            </a:srgbClr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2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RUN</a:t>
            </a:r>
            <a:endParaRPr sz="720"/>
          </a:p>
        </p:txBody>
      </p:sp>
      <p:sp>
        <p:nvSpPr>
          <p:cNvPr id="61" name="Shape 59">
            <a:extLst xmlns:a="http://schemas.openxmlformats.org/drawingml/2006/main">
              <a:ext uri="{FF2B5EF4-FFF2-40B4-BE49-F238E27FC236}">
                <a16:creationId xmlns:a16="http://schemas.microsoft.com/office/drawing/2014/main" id="{2D400500-E014-4193-B58C-AAEA06D6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4224528"/>
            <a:ext cx="5440680" cy="1353312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E7F6F3"/>
          </a:solidFill>
          <a:ln xmlns:a="http://schemas.openxmlformats.org/drawingml/2006/main" w="1397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9CA3AF">
                <a:alpha val="12000"/>
              </a:srgbClr>
            </a:outerShdw>
          </a:effectLst>
        </p:spPr>
      </p:sp>
      <p:sp>
        <p:nvSpPr>
          <p:cNvPr id="62" name="Shape 60">
            <a:extLst xmlns:a="http://schemas.openxmlformats.org/drawingml/2006/main">
              <a:ext uri="{FF2B5EF4-FFF2-40B4-BE49-F238E27FC236}">
                <a16:creationId xmlns:a16="http://schemas.microsoft.com/office/drawing/2014/main" id="{04F48754-E696-4D05-85CD-EBEAA6CF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4224528"/>
            <a:ext cx="73152" cy="13533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</p:sp>
      <p:sp>
        <p:nvSpPr>
          <p:cNvPr id="63" name="Text 61">
            <a:extLst xmlns:a="http://schemas.openxmlformats.org/drawingml/2006/main">
              <a:ext uri="{FF2B5EF4-FFF2-40B4-BE49-F238E27FC236}">
                <a16:creationId xmlns:a16="http://schemas.microsoft.com/office/drawing/2014/main" id="{26C51D84-89C7-46AE-93F1-DC610CFD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4325112"/>
            <a:ext cx="51937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논문 Excel</a:t>
            </a:r>
            <a:endParaRPr sz="1200"/>
          </a:p>
        </p:txBody>
      </p:sp>
      <p:sp>
        <p:nvSpPr>
          <p:cNvPr id="64" name="Text 62">
            <a:extLst xmlns:a="http://schemas.openxmlformats.org/drawingml/2006/main">
              <a:ext uri="{FF2B5EF4-FFF2-40B4-BE49-F238E27FC236}">
                <a16:creationId xmlns:a16="http://schemas.microsoft.com/office/drawing/2014/main" id="{F3DA3E6A-9DE8-4DB3-B866-7ED604AF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4617720"/>
            <a:ext cx="5193792" cy="896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PATH  data/thesis_outputs</a:t>
            </a:r>
            <a:endParaRPr sz="730"/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PRODUCER  BUILD_THESIS_OUTPUTS.ps1</a:t>
            </a:r>
            <a:endParaRPr sz="730"/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GRAIN  표 57 · 그림 14 · ledger/index 2</a:t>
            </a:r>
            <a:endParaRPr sz="730"/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MEANING  실제 run 행 → 계산 셀 → 표·차트</a:t>
            </a:r>
            <a:endParaRPr sz="730"/>
          </a:p>
        </p:txBody>
      </p:sp>
      <p:sp>
        <p:nvSpPr>
          <p:cNvPr id="65" name="Shape 63">
            <a:extLst xmlns:a="http://schemas.openxmlformats.org/drawingml/2006/main">
              <a:ext uri="{FF2B5EF4-FFF2-40B4-BE49-F238E27FC236}">
                <a16:creationId xmlns:a16="http://schemas.microsoft.com/office/drawing/2014/main" id="{16F5528D-9A84-47EA-AD28-9BDC3724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3867912"/>
            <a:ext cx="0" cy="3383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59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66" name="Text 64">
            <a:extLst xmlns:a="http://schemas.openxmlformats.org/drawingml/2006/main">
              <a:ext uri="{FF2B5EF4-FFF2-40B4-BE49-F238E27FC236}">
                <a16:creationId xmlns:a16="http://schemas.microsoft.com/office/drawing/2014/main" id="{03BE512E-A432-44FB-BC03-2A7466BC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4018788"/>
            <a:ext cx="100584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>
              <a:alpha val="92000"/>
            </a:srgbClr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2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EXPORT</a:t>
            </a:r>
            <a:endParaRPr sz="720"/>
          </a:p>
        </p:txBody>
      </p:sp>
      <p:sp>
        <p:nvSpPr>
          <p:cNvPr id="67" name="Shape 65">
            <a:extLst xmlns:a="http://schemas.openxmlformats.org/drawingml/2006/main">
              <a:ext uri="{FF2B5EF4-FFF2-40B4-BE49-F238E27FC236}">
                <a16:creationId xmlns:a16="http://schemas.microsoft.com/office/drawing/2014/main" id="{70AE8107-5F70-4B7D-9919-0A5745FE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5779008"/>
            <a:ext cx="5440680" cy="51206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</p:sp>
      <p:sp>
        <p:nvSpPr>
          <p:cNvPr id="68" name="Text 66">
            <a:extLst xmlns:a="http://schemas.openxmlformats.org/drawingml/2006/main">
              <a:ext uri="{FF2B5EF4-FFF2-40B4-BE49-F238E27FC236}">
                <a16:creationId xmlns:a16="http://schemas.microsoft.com/office/drawing/2014/main" id="{0538F701-2A4B-4464-B06B-45625084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5870448"/>
            <a:ext cx="5202936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frozen_outputs는 clean 계산 입력이 아니다. FrozenReplay도 보존본을 직접 고치지 않고 data/final_freeze 작업본에서 분석한다.</a:t>
            </a:r>
            <a:endParaRPr sz="850"/>
          </a:p>
        </p:txBody>
      </p:sp>
      <p:sp>
        <p:nvSpPr>
          <p:cNvPr id="69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59F49E31-179D-48FC-86D2-D85531B2291D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95760" y="651967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975524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A827D4B-1E52-460A-9BA3-8D4644AD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92608"/>
            <a:ext cx="112471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2. Raw → Stage0/1 → Oracle</a:t>
            </a:r>
            <a:endParaRPr sz="2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81EC9E4-3EA4-4E03-AA9F-6701BB8F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713232"/>
            <a:ext cx="10972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등급 firm-year와 재무 statement-item을 Stage0에서 별도 보존하고, Stage1에서 firm-year로 결합한다.</a:t>
            </a:r>
            <a:endParaRPr sz="10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9043682-789B-4858-8F36-235D6AE3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325880"/>
            <a:ext cx="2011680" cy="11430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397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9CA3AF">
                <a:alpha val="12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3440C08-ECFD-4943-91FA-199AB328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325880"/>
            <a:ext cx="73152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9B75BEC-FEF3-49F3-8A12-FB0C487A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26464"/>
            <a:ext cx="17647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등급 원자료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F4EF08-A226-43AE-A1B4-DA51F1DD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19072"/>
            <a:ext cx="176479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PATH  data/raw/rating_sample/*.xlsx</a:t>
            </a:r>
            <a:endParaRPr sz="730"/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PRODUCER  Stage0 raw builder</a:t>
            </a:r>
            <a:endParaRPr sz="730"/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GRAIN  평가건 → firm-year</a:t>
            </a:r>
            <a:endParaRPr sz="730"/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MEANING  평가사·증권·등급 필터</a:t>
            </a:r>
            <a:endParaRPr sz="73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1086879-DD3A-4C91-8E29-5AE5EFDF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971800"/>
            <a:ext cx="2011680" cy="11430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397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9CA3AF">
                <a:alpha val="12000"/>
              </a:srgbClr>
            </a:outerShdw>
          </a:effectLst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B1A2A574-D624-4404-B891-4ED5EC7F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971800"/>
            <a:ext cx="73152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F4FD117-2D1D-418A-AA25-2871DBBE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072384"/>
            <a:ext cx="17647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재무 원자료</a:t>
            </a:r>
            <a:endParaRPr sz="12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5898356-4254-49E5-B808-C0978B91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64992"/>
            <a:ext cx="176479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PATH  data/raw/raw_all/*.xlsx</a:t>
            </a:r>
            <a:endParaRPr sz="730"/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PRODUCER  Stage0 raw builder</a:t>
            </a:r>
            <a:endParaRPr sz="730"/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GRAIN  firm-year-item</a:t>
            </a:r>
            <a:endParaRPr sz="730"/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MEANING  재무제표 long panel</a:t>
            </a:r>
            <a:endParaRPr sz="73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4CFA8C6D-A9E3-451A-BD94-95DA80D6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1325880"/>
            <a:ext cx="2286000" cy="11430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9CA3AF">
                <a:alpha val="12000"/>
              </a:srgbClr>
            </a:outerShdw>
          </a:effectLst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A6421DD-F74A-44C4-9F30-7E208B6B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1325880"/>
            <a:ext cx="73152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EBAC4B7-B9A0-41CD-929E-72C77BA6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808" y="1426464"/>
            <a:ext cx="203911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Stage0 등급 panel</a:t>
            </a:r>
            <a:endParaRPr sz="12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0F82F958-2426-4B83-93F3-C67AE7DAA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808" y="1719072"/>
            <a:ext cx="203911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PATH  stage0.../stage0_canonical_panel.parquet</a:t>
            </a:r>
            <a:endParaRPr sz="730"/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PRODUCER  Stage0 raw builder</a:t>
            </a:r>
            <a:endParaRPr sz="730"/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GRAIN  firm-year</a:t>
            </a:r>
            <a:endParaRPr sz="730"/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MEANING  등급 표본 1행/기업-연도</a:t>
            </a:r>
            <a:endParaRPr sz="73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958C080-BF5C-4DD9-9D8D-138378A6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971800"/>
            <a:ext cx="2286000" cy="11430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9CA3AF">
                <a:alpha val="12000"/>
              </a:srgbClr>
            </a:outerShdw>
          </a:effectLst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4397A4CB-59F5-4833-8916-F58C45DA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2971800"/>
            <a:ext cx="73152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06111B5A-1517-4DD2-99A6-6CD11592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808" y="3072384"/>
            <a:ext cx="203911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Stage0 재무 panel</a:t>
            </a:r>
            <a:endParaRPr sz="12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39756F4-3C58-405B-A3D0-DDE22EA2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808" y="3364992"/>
            <a:ext cx="2039112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PATH  stage0.../statement_items_panel.parquet</a:t>
            </a:r>
            <a:endParaRPr sz="730"/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PRODUCER  Stage0 raw builder</a:t>
            </a:r>
            <a:endParaRPr sz="730"/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GRAIN  firm-year-item</a:t>
            </a:r>
            <a:endParaRPr sz="730"/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MEANING  등급 panel과 별도 보존</a:t>
            </a:r>
            <a:endParaRPr sz="73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6192213-E1F1-4F14-AF63-DE0CE31E6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93392"/>
            <a:ext cx="2377440" cy="141732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7F6F3"/>
          </a:solidFill>
          <a:ln xmlns:a="http://schemas.openxmlformats.org/drawingml/2006/main" w="1397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9CA3AF">
                <a:alpha val="12000"/>
              </a:srgbClr>
            </a:outerShdw>
          </a:effectLst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C2FDAFB1-0418-4217-AB54-92BEF824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93392"/>
            <a:ext cx="73152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E019EE2-CE8D-4440-AFC0-843EEF51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448" y="2093976"/>
            <a:ext cx="21305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Stage1 통합·변수</a:t>
            </a:r>
            <a:endParaRPr sz="12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09FF3D6-B7B9-41F0-8A1E-FD7619FE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448" y="2386584"/>
            <a:ext cx="2130552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PATH  stage1_oracle_inputs/*</a:t>
            </a:r>
            <a:endParaRPr sz="730"/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PRODUCER  adapter → ratio/nonfinancial/selection</a:t>
            </a:r>
            <a:endParaRPr sz="730"/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GRAIN  firm-year</a:t>
            </a:r>
            <a:endParaRPr sz="730"/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MEANING  JOIN · 비율 · 비재무 · 변수선정</a:t>
            </a:r>
            <a:endParaRPr sz="73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79EE4B84-F89E-4AF7-ABEC-C4195198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1234440"/>
            <a:ext cx="2697480" cy="1243584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9CA3AF">
                <a:alpha val="12000"/>
              </a:srgbClr>
            </a:outerShdw>
          </a:effectLst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3145D162-36B9-4CEF-8328-208811B1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1234440"/>
            <a:ext cx="73152" cy="1243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658D8522-F6DE-4D66-A7AC-0ABD83A3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1335024"/>
            <a:ext cx="24505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Oracle-α</a:t>
            </a:r>
            <a:endParaRPr sz="1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7F56E71F-FC8B-44F4-BDC2-0EFADEC2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1627632"/>
            <a:ext cx="2450592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PATH  stage1_oracle_backends/alpha</a:t>
            </a:r>
            <a:endParaRPr sz="730"/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PRODUCER  alpha/pipeline.py</a:t>
            </a:r>
            <a:endParaRPr sz="730"/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GRAIN  firm-year</a:t>
            </a:r>
            <a:endParaRPr sz="730"/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MEANING  논문 주 Oracle 점수·검증</a:t>
            </a:r>
            <a:endParaRPr sz="73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101C48CD-99A3-49B9-9ED2-A85AE9FE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3035808"/>
            <a:ext cx="2697480" cy="1243584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9CA3AF">
                <a:alpha val="12000"/>
              </a:srgbClr>
            </a:outerShdw>
          </a:effectLst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FA9E9F60-CB09-4FE6-8F0C-015D926C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3035808"/>
            <a:ext cx="73152" cy="1243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E5920AA4-AD0D-4007-9B7B-0313EA74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3136392"/>
            <a:ext cx="24505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Oracle-β · γ</a:t>
            </a:r>
            <a:endParaRPr sz="12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16937C45-F49C-42BA-BDA8-36BC1C96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3429000"/>
            <a:ext cx="2450592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PATH  stage1_oracle_backends/{beta,gamma}</a:t>
            </a:r>
            <a:endParaRPr sz="730"/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PRODUCER  {beta,gamma}/pipeline.py</a:t>
            </a:r>
            <a:endParaRPr sz="730"/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GRAIN  firm-year</a:t>
            </a:r>
            <a:endParaRPr sz="730"/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MEANING  대안 구조·민감도 점수</a:t>
            </a:r>
            <a:endParaRPr sz="73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BBA8D21F-6C8E-49F2-BA4E-0617D2F5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1874520"/>
            <a:ext cx="4389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59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724E768C-9D8F-4B2A-B39D-90DF7CB1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696" y="1719072"/>
            <a:ext cx="100584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>
              <a:alpha val="92000"/>
            </a:srgbClr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2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FILTER</a:t>
            </a:r>
            <a:endParaRPr sz="72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0134FECE-5192-4673-AF59-BB250014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3529584"/>
            <a:ext cx="4389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59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81DEDFB5-D85A-481E-8468-D557687D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696" y="3374136"/>
            <a:ext cx="100584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>
              <a:alpha val="92000"/>
            </a:srgbClr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2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READ</a:t>
            </a:r>
            <a:endParaRPr sz="720"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5D9839FB-42FD-4361-A17A-776F35B5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1874520"/>
            <a:ext cx="521208" cy="6126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59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CF4DAFF4-C21B-45FD-83CA-BCDE7D35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188" y="2025396"/>
            <a:ext cx="100584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>
              <a:alpha val="92000"/>
            </a:srgbClr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2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JOIN</a:t>
            </a:r>
            <a:endParaRPr sz="720"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B8FBD2DA-A2DD-4FD8-9E83-C12DDBDB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175504" y="2916936"/>
            <a:ext cx="521208" cy="6126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59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4880A343-97C4-4283-8BDF-5A24D6DA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188" y="3067812"/>
            <a:ext cx="100584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>
              <a:alpha val="92000"/>
            </a:srgbClr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2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JOIN</a:t>
            </a:r>
            <a:endParaRPr sz="720"/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507001E2-1D40-4434-AEE0-6D9D6375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101584" y="1865376"/>
            <a:ext cx="521208" cy="5394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59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40969624-091A-4A84-8BF8-A93C4E62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9268" y="1979676"/>
            <a:ext cx="100584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>
              <a:alpha val="92000"/>
            </a:srgbClr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2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TRAIN/SCORE</a:t>
            </a:r>
            <a:endParaRPr sz="720"/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09AE29ED-DD12-4D3A-AA37-24B29F1A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2999232"/>
            <a:ext cx="521208" cy="6217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59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072C0DE7-C680-45D2-BF3E-AFDFE574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9268" y="3154680"/>
            <a:ext cx="100584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>
              <a:alpha val="92000"/>
            </a:srgbClr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2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TRAIN/SCORE</a:t>
            </a:r>
            <a:endParaRPr sz="720"/>
          </a:p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BF7C5830-4E95-479E-9530-AF7E4F5C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791456"/>
            <a:ext cx="10881360" cy="69494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2700">
            <a:solidFill>
              <a:srgbClr val="B91C1C"/>
            </a:solidFill>
            <a:prstDash val="solid"/>
          </a:ln>
        </p:spPr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60AC03CE-60C5-4500-86B7-AAA2F8E3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882896"/>
            <a:ext cx="10643616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원본 코드는 바꾸지 않았다. 확인된 제외는 Oracle-α의 ‘재무변수 전부 결측’ 500행이며, 금융업 업종코드의 별도 제외는 producer에서 확인되지 않았다.</a:t>
            </a:r>
            <a:endParaRPr sz="850"/>
          </a:p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23C5ABD7-287F-4038-B035-AB3C902D3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641848"/>
            <a:ext cx="10881360" cy="49377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6A2C07FA-5B83-413D-BE4A-2AC9E725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733288"/>
            <a:ext cx="1064361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Frozen 기준: 등급 firm-year 4,924행 · statement-item 77,077,533행 · Oracle-α 모델링 3,822행. 논문 값은 NUMERIC_CLAIMS.xlsx가 다시 계산한다.</a:t>
            </a:r>
            <a:endParaRPr sz="850"/>
          </a:p>
        </p:txBody>
      </p:sp>
      <p:sp>
        <p:nvSpPr>
          <p:cNvPr id="48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E0E9022-E13D-45E3-BE62-FB520AB18DC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95760" y="651967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30970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33BFEC8-59E9-4083-B982-335AFA50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92608"/>
            <a:ext cx="112471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3. Oracle·후보행동 → RL Stage2–6</a:t>
            </a:r>
            <a:endParaRPr sz="2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97DB37D-9281-4C5A-9EEF-310CC087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713232"/>
            <a:ext cx="10972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원본 P50 후보·counterfactual transition으로 Stage3–5를 학습하고 Stage6에서 동일기업 action−no-op을 평가한다.</a:t>
            </a:r>
            <a:endParaRPr sz="10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C2A70D2-40B1-46D3-B769-1BE47DB8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828800"/>
            <a:ext cx="1783080" cy="20574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397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9CA3AF">
                <a:alpha val="12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FD5AB48-AA06-449C-8041-571D7B5D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828800"/>
            <a:ext cx="73152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8AB876E-6F90-4E6F-8917-489A1A21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1929384"/>
            <a:ext cx="15361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Oracle/firm-year</a:t>
            </a:r>
            <a:endParaRPr sz="10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41D4835-0AEA-4662-A337-FE0BADF2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" y="2221992"/>
            <a:ext cx="1536192" cy="160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PATH  stage1_oracle_*</a:t>
            </a:r>
            <a:endParaRPr sz="670"/>
          </a:p>
          <a:p xmlns:a="http://schemas.openxmlformats.org/drawingml/2006/main">
            <a:pPr marL="0" indent="0">
              <a:buNone/>
            </a:pPr>
            <a:r>
              <a:rPr sz="67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PRODUCER  Stage1 Oracle</a:t>
            </a:r>
            <a:endParaRPr sz="670"/>
          </a:p>
          <a:p xmlns:a="http://schemas.openxmlformats.org/drawingml/2006/main">
            <a:pPr marL="0" indent="0">
              <a:buNone/>
            </a:pPr>
            <a:r>
              <a:rPr sz="67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GRAIN  firm-year</a:t>
            </a:r>
            <a:endParaRPr sz="670"/>
          </a:p>
          <a:p xmlns:a="http://schemas.openxmlformats.org/drawingml/2006/main">
            <a:pPr marL="0" indent="0">
              <a:buNone/>
            </a:pPr>
            <a:r>
              <a:rPr sz="67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MEANING  상태 · 점수 · 재무변수</a:t>
            </a:r>
            <a:endParaRPr sz="67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1E4E7285-E8F8-46D8-8C1D-878131E5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712" y="1828800"/>
            <a:ext cx="1783080" cy="20574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7F6F3"/>
          </a:solidFill>
          <a:ln xmlns:a="http://schemas.openxmlformats.org/drawingml/2006/main" w="1397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9CA3AF">
                <a:alpha val="12000"/>
              </a:srgbClr>
            </a:outerShdw>
          </a:effectLst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F7F6A1D5-D986-4142-8892-CB98C53F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712" y="1828800"/>
            <a:ext cx="73152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5E295E3-3DE0-41AB-84DB-08BE1608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1929384"/>
            <a:ext cx="15361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Stage2 후보·전이</a:t>
            </a:r>
            <a:endParaRPr sz="10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CC95A26-8B50-4126-A153-18253B39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2221992"/>
            <a:ext cx="1536192" cy="160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PATH  stage2_candidate_projection + counterfactual</a:t>
            </a:r>
            <a:endParaRPr sz="670"/>
          </a:p>
          <a:p xmlns:a="http://schemas.openxmlformats.org/drawingml/2006/main">
            <a:pPr marL="0" indent="0">
              <a:buNone/>
            </a:pPr>
            <a:r>
              <a:rPr sz="67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PRODUCER  original Stage2 pipelines</a:t>
            </a:r>
            <a:endParaRPr sz="670"/>
          </a:p>
          <a:p xmlns:a="http://schemas.openxmlformats.org/drawingml/2006/main">
            <a:pPr marL="0" indent="0">
              <a:buNone/>
            </a:pPr>
            <a:r>
              <a:rPr sz="67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GRAIN  firm × candidate transition</a:t>
            </a:r>
            <a:endParaRPr sz="670"/>
          </a:p>
          <a:p xmlns:a="http://schemas.openxmlformats.org/drawingml/2006/main">
            <a:pPr marL="0" indent="0">
              <a:buNone/>
            </a:pPr>
            <a:r>
              <a:rPr sz="67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MEANING  P50 · SIMULATE · reward</a:t>
            </a:r>
            <a:endParaRPr sz="670"/>
          </a:p>
          <a:p xmlns:a="http://schemas.openxmlformats.org/drawingml/2006/main">
            <a:pPr marL="0" indent="0">
              <a:buNone/>
            </a:pPr>
            <a:r>
              <a:rPr sz="67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ROWS  34,749</a:t>
            </a:r>
            <a:endParaRPr sz="67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046332DE-DBB9-4F99-856B-D3B0DCB3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5384" y="1828800"/>
            <a:ext cx="1783080" cy="20574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9CA3AF">
                <a:alpha val="12000"/>
              </a:srgbClr>
            </a:outerShdw>
          </a:effectLst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DCEB9A2F-9398-4FB2-8919-A2064F68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5384" y="1828800"/>
            <a:ext cx="73152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77E3C1A-D2B3-4375-A28B-1721B249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1929384"/>
            <a:ext cx="15361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Stage3 encoder</a:t>
            </a:r>
            <a:endParaRPr sz="10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DA5CF23-52DB-48FF-9458-CD01DD54C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2221992"/>
            <a:ext cx="1536192" cy="160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PATH  stage3_acd_ssl/*.pt</a:t>
            </a:r>
            <a:endParaRPr sz="670"/>
          </a:p>
          <a:p xmlns:a="http://schemas.openxmlformats.org/drawingml/2006/main">
            <a:pPr marL="0" indent="0">
              <a:buNone/>
            </a:pPr>
            <a:r>
              <a:rPr sz="67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PRODUCER  Stage3 pipeline</a:t>
            </a:r>
            <a:endParaRPr sz="670"/>
          </a:p>
          <a:p xmlns:a="http://schemas.openxmlformats.org/drawingml/2006/main">
            <a:pPr marL="0" indent="0">
              <a:buNone/>
            </a:pPr>
            <a:r>
              <a:rPr sz="67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GRAIN  firm-year representation</a:t>
            </a:r>
            <a:endParaRPr sz="670"/>
          </a:p>
          <a:p xmlns:a="http://schemas.openxmlformats.org/drawingml/2006/main">
            <a:pPr marL="0" indent="0">
              <a:buNone/>
            </a:pPr>
            <a:r>
              <a:rPr sz="67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MEANING  self-supervised encoder</a:t>
            </a:r>
            <a:endParaRPr sz="67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DA8423C6-6C74-4FE5-9F18-A3388A46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056" y="1828800"/>
            <a:ext cx="1783080" cy="20574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9CA3AF">
                <a:alpha val="12000"/>
              </a:srgbClr>
            </a:outerShdw>
          </a:effectLst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F0A06873-003F-4544-BE69-AE0801C3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3056" y="1828800"/>
            <a:ext cx="73152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2112830-E077-47A8-9025-52E241E5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1929384"/>
            <a:ext cx="15361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Stage4 BC</a:t>
            </a:r>
            <a:endParaRPr sz="10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74B4597-A237-4417-A846-F140A50F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2221992"/>
            <a:ext cx="1536192" cy="160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PATH  stage4_candidate_bc/*.pt</a:t>
            </a:r>
            <a:endParaRPr sz="670"/>
          </a:p>
          <a:p xmlns:a="http://schemas.openxmlformats.org/drawingml/2006/main">
            <a:pPr marL="0" indent="0">
              <a:buNone/>
            </a:pPr>
            <a:r>
              <a:rPr sz="67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PRODUCER  Stage4 pipeline</a:t>
            </a:r>
            <a:endParaRPr sz="670"/>
          </a:p>
          <a:p xmlns:a="http://schemas.openxmlformats.org/drawingml/2006/main">
            <a:pPr marL="0" indent="0">
              <a:buNone/>
            </a:pPr>
            <a:r>
              <a:rPr sz="67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GRAIN  firm-year → candidate</a:t>
            </a:r>
            <a:endParaRPr sz="670"/>
          </a:p>
          <a:p xmlns:a="http://schemas.openxmlformats.org/drawingml/2006/main">
            <a:pPr marL="0" indent="0">
              <a:buNone/>
            </a:pPr>
            <a:r>
              <a:rPr sz="67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MEANING  행동 vocabulary 모방학습</a:t>
            </a:r>
            <a:endParaRPr sz="67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E09B96B-BA3F-4CD5-AC0D-582E4F12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728" y="1828800"/>
            <a:ext cx="1783080" cy="20574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9CA3AF">
                <a:alpha val="12000"/>
              </a:srgbClr>
            </a:outerShdw>
          </a:effectLst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5781D95C-5E6D-45D2-A39F-CF51D4C3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728" y="1828800"/>
            <a:ext cx="73152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A85D3EC7-B557-4D3B-8253-92F5312A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6176" y="1929384"/>
            <a:ext cx="15361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Stage5 IQL</a:t>
            </a:r>
            <a:endParaRPr sz="10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AFB5D19D-5EC3-43D0-B381-F5221A98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6176" y="2221992"/>
            <a:ext cx="1536192" cy="160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PATH  stage5_candidate_iql/*.pt</a:t>
            </a:r>
            <a:endParaRPr sz="670"/>
          </a:p>
          <a:p xmlns:a="http://schemas.openxmlformats.org/drawingml/2006/main">
            <a:pPr marL="0" indent="0">
              <a:buNone/>
            </a:pPr>
            <a:r>
              <a:rPr sz="67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PRODUCER  Stage5 pipeline</a:t>
            </a:r>
            <a:endParaRPr sz="670"/>
          </a:p>
          <a:p xmlns:a="http://schemas.openxmlformats.org/drawingml/2006/main">
            <a:pPr marL="0" indent="0">
              <a:buNone/>
            </a:pPr>
            <a:r>
              <a:rPr sz="67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GRAIN  firm-year → candidate</a:t>
            </a:r>
            <a:endParaRPr sz="670"/>
          </a:p>
          <a:p xmlns:a="http://schemas.openxmlformats.org/drawingml/2006/main">
            <a:pPr marL="0" indent="0">
              <a:buNone/>
            </a:pPr>
            <a:r>
              <a:rPr sz="67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MEANING  Candidate-IQL; Oracle score 학습 미사용</a:t>
            </a:r>
            <a:endParaRPr sz="67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D35044D8-B882-40E7-B061-E449A283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828800"/>
            <a:ext cx="1783080" cy="20574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97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9CA3AF">
                <a:alpha val="12000"/>
              </a:srgbClr>
            </a:outerShdw>
          </a:effectLst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312F5E1B-D10B-473F-9A2A-70397DD0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828800"/>
            <a:ext cx="73152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656A775F-C0C9-43D3-BB81-C100CCDB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848" y="1929384"/>
            <a:ext cx="15361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Stage6 평가</a:t>
            </a:r>
            <a:endParaRPr sz="10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B246C6F3-C5ED-4AB0-8CB6-F461B2EB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848" y="2221992"/>
            <a:ext cx="1536192" cy="1600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7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PATH  stage6_*_eval</a:t>
            </a:r>
            <a:endParaRPr sz="670"/>
          </a:p>
          <a:p xmlns:a="http://schemas.openxmlformats.org/drawingml/2006/main">
            <a:pPr marL="0" indent="0">
              <a:buNone/>
            </a:pPr>
            <a:r>
              <a:rPr sz="67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PRODUCER  Stage6 eval pipelines</a:t>
            </a:r>
            <a:endParaRPr sz="670"/>
          </a:p>
          <a:p xmlns:a="http://schemas.openxmlformats.org/drawingml/2006/main">
            <a:pPr marL="0" indent="0">
              <a:buNone/>
            </a:pPr>
            <a:r>
              <a:rPr sz="67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GRAIN  firm × policy × oracle</a:t>
            </a:r>
            <a:endParaRPr sz="670"/>
          </a:p>
          <a:p xmlns:a="http://schemas.openxmlformats.org/drawingml/2006/main">
            <a:pPr marL="0" indent="0">
              <a:buNone/>
            </a:pPr>
            <a:r>
              <a:rPr sz="67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MEANING  same-firm action score − no-op</a:t>
            </a:r>
            <a:endParaRPr sz="67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16DD15B6-7CE8-4EB0-AB13-0A43E23C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2834640"/>
            <a:ext cx="137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59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317235E8-FDDC-470A-9EFA-C5BF8BE1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8780" y="2679192"/>
            <a:ext cx="100584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>
              <a:alpha val="92000"/>
            </a:srgbClr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2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READ/SIMULATE</a:t>
            </a:r>
            <a:endParaRPr sz="72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CC24F46C-5A56-45C6-8935-90D4F6BD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792" y="2834640"/>
            <a:ext cx="137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59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E3A73106-EDF0-493E-B7EC-C4CE535C0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452" y="2679192"/>
            <a:ext cx="100584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>
              <a:alpha val="92000"/>
            </a:srgbClr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2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TRAIN</a:t>
            </a:r>
            <a:endParaRPr sz="72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332A38EE-51B1-4302-980E-F7B4CEB82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8464" y="2834640"/>
            <a:ext cx="137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59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E336C13E-31C9-4A3C-8297-FD7B30F4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4124" y="2679192"/>
            <a:ext cx="100584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>
              <a:alpha val="92000"/>
            </a:srgbClr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2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TRAIN</a:t>
            </a:r>
            <a:endParaRPr sz="72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60227AAB-21B2-4DC8-B28D-95DF916D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6136" y="2834640"/>
            <a:ext cx="137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59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75EB682C-DACA-4777-B06F-278D94BD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1796" y="2679192"/>
            <a:ext cx="100584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>
              <a:alpha val="92000"/>
            </a:srgbClr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2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TRAIN</a:t>
            </a:r>
            <a:endParaRPr sz="720"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BB165DAF-2CDC-44DE-8240-3513F534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808" y="2834640"/>
            <a:ext cx="137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59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F07D32B1-12D1-45CB-BBDE-9A7BDB1E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9468" y="2679192"/>
            <a:ext cx="100584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>
              <a:alpha val="92000"/>
            </a:srgbClr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2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SCORE</a:t>
            </a:r>
            <a:endParaRPr sz="720"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5EA41858-B757-4B49-8524-6BABE713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70832"/>
            <a:ext cx="548640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228BC675-B435-4734-A858-8D6105C5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4462272"/>
            <a:ext cx="524865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원본 preset: P50 · Stage3/4/5 seed=2. Stage2 transition은 observed 3,159 + counterfactual 31,590 = 34,749행.</a:t>
            </a:r>
            <a:endParaRPr sz="850"/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88A1EA5D-50B3-4152-B868-17CC2F39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632" y="4370832"/>
            <a:ext cx="5468112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7F6F3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4C685FB6-B5B7-4EFA-B29D-EC0A4F01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4462272"/>
            <a:ext cx="523036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정책가치 = 같은 기업의 action Oracle score − no-op score. Stage6 policy_actions는 7,475행이며 firm-level 차이를 집계·검정한다.</a:t>
            </a:r>
            <a:endParaRPr sz="850"/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E2FFA075-7C44-4C74-8819-330A77B3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321808"/>
            <a:ext cx="11155680" cy="51206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71A89737-772F-436C-A469-74DD2FBA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5413248"/>
            <a:ext cx="10917936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thesis_repo의 원본 Stage2–6 producer와 V10 확장분석 producer를 각각 보존한다. V10을 원본으로 대체하거나 결과를 다시 정의하지 않는다.</a:t>
            </a:r>
            <a:endParaRPr sz="850"/>
          </a:p>
        </p:txBody>
      </p:sp>
      <p:sp>
        <p:nvSpPr>
          <p:cNvPr id="44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CC308DF1-FBD6-4650-A996-C3C706C12537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95760" y="651967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495420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B4BBF64-3E44-4CC7-98E6-22D6C42C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92608"/>
            <a:ext cx="112471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4. LLM Stage7 → parse/projection → Stage8 → Stage9</a:t>
            </a:r>
            <a:endParaRPr sz="2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BC6F648-D81A-407F-835A-FE249395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713232"/>
            <a:ext cx="10972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Stage7 원응답에서 제안행동과 적용행동을 분리하고, C4에서 C4R과 C6으로 각각 분기해 평가한다.</a:t>
            </a:r>
            <a:endParaRPr sz="10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2341D14-1F85-469C-9C58-A7FE3C1B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1965960"/>
            <a:ext cx="1993392" cy="155448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397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9CA3AF">
                <a:alpha val="12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95D1DF5-CFE1-47AC-A0DA-63BEC305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1965960"/>
            <a:ext cx="73152" cy="1554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F60ED35-F2FC-4B75-95D4-D074EE00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66544"/>
            <a:ext cx="174650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Stage6 reference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42E0825-0924-4432-9C31-1EC693F0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9152"/>
            <a:ext cx="174650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PATH  stage6_candidate_selector_eval</a:t>
            </a:r>
            <a:endParaRPr sz="730"/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PRODUCER  Candidate-IQL Stage6</a:t>
            </a:r>
            <a:endParaRPr sz="730"/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GRAIN  firm-year</a:t>
            </a:r>
            <a:endParaRPr sz="730"/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MEANING  RL 후보 + no-op baseline</a:t>
            </a:r>
            <a:endParaRPr sz="73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929B0466-A22E-4A05-AC63-FDA47C9A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097280"/>
            <a:ext cx="2148840" cy="141732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9CA3AF">
                <a:alpha val="12000"/>
              </a:srgbClr>
            </a:outerShdw>
          </a:effectLst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6FFC32B-4A9F-46C7-AEAF-A0593761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097280"/>
            <a:ext cx="73152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8558C7C-92E9-482F-8A2C-F75B6F668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648" y="1197864"/>
            <a:ext cx="19019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Stage7 1차</a:t>
            </a:r>
            <a:endParaRPr sz="12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E692E94-9171-4FC7-9E79-E2DB0B9F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648" y="1490472"/>
            <a:ext cx="1901952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PATH  llm_runs/&lt;run&gt;/stage7_*</a:t>
            </a:r>
            <a:endParaRPr sz="730"/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PRODUCER  Stage7 generation pipeline</a:t>
            </a:r>
            <a:endParaRPr sz="730"/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GRAIN  firm × condition × mode</a:t>
            </a:r>
            <a:endParaRPr sz="730"/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MEANING  prompt + raw response</a:t>
            </a:r>
            <a:endParaRPr sz="73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45F28258-65F1-489E-B490-2F3A9164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337560"/>
            <a:ext cx="2148840" cy="141732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7F6F3"/>
          </a:solidFill>
          <a:ln xmlns:a="http://schemas.openxmlformats.org/drawingml/2006/main" w="1397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9CA3AF">
                <a:alpha val="12000"/>
              </a:srgbClr>
            </a:outerShdw>
          </a:effectLst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622DB946-65B9-4EEF-B21E-DAD446A7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337560"/>
            <a:ext cx="73152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D5CA8E0-DB8C-4C6B-B4D8-8792DE34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648" y="3438144"/>
            <a:ext cx="19019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C4 시작행동</a:t>
            </a:r>
            <a:endParaRPr sz="12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C529FD9-A94B-4A6F-A178-4D547BC5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648" y="3730752"/>
            <a:ext cx="1901952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PATH  initial_actions_by_key</a:t>
            </a:r>
            <a:endParaRPr sz="730"/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PRODUCER  Stage7 two-pass runner</a:t>
            </a:r>
            <a:endParaRPr sz="730"/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GRAIN  firm × mode</a:t>
            </a:r>
            <a:endParaRPr sz="730"/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MEANING  C4 공통 시작행동 a₀</a:t>
            </a:r>
            <a:endParaRPr sz="73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BF1737E-9415-42A5-9515-7F826249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2103120"/>
            <a:ext cx="2331720" cy="178308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97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9CA3AF">
                <a:alpha val="12000"/>
              </a:srgbClr>
            </a:outerShdw>
          </a:effectLst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4D4E1B6F-27FF-4A59-AFC8-985A0850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2103120"/>
            <a:ext cx="73152" cy="1783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DE3F1475-CC83-4C00-B177-0247C2FAE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128" y="2203704"/>
            <a:ext cx="20848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Stage7 2차 분기</a:t>
            </a:r>
            <a:endParaRPr sz="12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ECBA34D-8547-4CA0-9F0C-84967E08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128" y="2496312"/>
            <a:ext cx="2084832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PATH  C4 → C4R  AND  C4 → C6/C6X</a:t>
            </a:r>
            <a:endParaRPr sz="730"/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PRODUCER  prompt builder + parser/projection</a:t>
            </a:r>
            <a:endParaRPr sz="730"/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GRAIN  firm × condition × mode</a:t>
            </a:r>
            <a:endParaRPr sz="730"/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MEANING  proposed action ≠ applied action</a:t>
            </a:r>
            <a:endParaRPr sz="73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070487D1-BCBB-454C-8D68-2A9F9011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051560"/>
            <a:ext cx="2359152" cy="1517904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397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9CA3AF">
                <a:alpha val="12000"/>
              </a:srgbClr>
            </a:outerShdw>
          </a:effectLst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A3E8C255-4695-45E4-86FE-089552EA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051560"/>
            <a:ext cx="73152" cy="1517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95B58A02-38A3-45E6-B663-96EF11B4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1152144"/>
            <a:ext cx="211226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Stage8 Simulator/Oracle</a:t>
            </a:r>
            <a:endParaRPr sz="12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063D7C9-2446-4893-BB2F-A4EAF8AD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1444752"/>
            <a:ext cx="2112264" cy="10607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PATH  stage8_llm_multi_oracle_eval</a:t>
            </a:r>
            <a:endParaRPr sz="730"/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PRODUCER  Stage8 eval pipeline</a:t>
            </a:r>
            <a:endParaRPr sz="730"/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GRAIN  firm × policy × mode × oracle</a:t>
            </a:r>
            <a:endParaRPr sz="730"/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MEANING  SIMULATE → SCORE → same-firm delta</a:t>
            </a:r>
            <a:endParaRPr sz="73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1A56E079-5E7B-492C-BB5C-B80F165E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410712"/>
            <a:ext cx="2359152" cy="1517904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E7F6F3"/>
          </a:solidFill>
          <a:ln xmlns:a="http://schemas.openxmlformats.org/drawingml/2006/main" w="1397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9CA3AF">
                <a:alpha val="12000"/>
              </a:srgbClr>
            </a:outerShdw>
          </a:effectLst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8303B5D1-0FFB-411A-8060-94223669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410712"/>
            <a:ext cx="73152" cy="15179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C45C337E-FE63-4A6C-9444-0B83A3E1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3511296"/>
            <a:ext cx="211226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Stage9 비교</a:t>
            </a:r>
            <a:endParaRPr sz="1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F34A3184-0958-4306-A035-CEB34AD2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3803904"/>
            <a:ext cx="2112264" cy="10607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PATH  stage9_llm_rl_comparison</a:t>
            </a:r>
            <a:endParaRPr sz="730"/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PRODUCER  Stage9 comparison pipeline</a:t>
            </a:r>
            <a:endParaRPr sz="730"/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GRAIN  firm × contrast × oracle</a:t>
            </a:r>
            <a:endParaRPr sz="730"/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MEANING  LLM vs RL paired comparison</a:t>
            </a:r>
            <a:endParaRPr sz="73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EDB8DA08-7804-4E1D-B264-CB062B23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340864" y="1828800"/>
            <a:ext cx="384048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59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9A3E70EB-F0E9-4624-9E81-96F598FB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2016252"/>
            <a:ext cx="100584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>
              <a:alpha val="92000"/>
            </a:srgbClr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2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READ</a:t>
            </a:r>
            <a:endParaRPr sz="72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A6CC5DB8-84AB-471D-8855-2F0C84AA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2" y="2532888"/>
            <a:ext cx="0" cy="7772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59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5CC90A9E-F06F-4127-A3C4-6C698CF0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2903220"/>
            <a:ext cx="100584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>
              <a:alpha val="92000"/>
            </a:srgbClr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2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PARSE</a:t>
            </a:r>
            <a:endParaRPr sz="72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7ACB184C-6237-4194-B59D-ED5598AB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892040" y="3154680"/>
            <a:ext cx="530352" cy="8869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59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F9A99FF9-3F9E-4C5D-A148-38A92138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296" y="3442716"/>
            <a:ext cx="100584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>
              <a:alpha val="92000"/>
            </a:srgbClr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2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BRANCH</a:t>
            </a:r>
            <a:endParaRPr sz="72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68710C1C-4888-4024-BB35-4F47183F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772400" y="1883664"/>
            <a:ext cx="484632" cy="8778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59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277827FE-75CB-40AE-8FA8-02817C0E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1796" y="2167128"/>
            <a:ext cx="100584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>
              <a:alpha val="92000"/>
            </a:srgbClr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2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SIMULATE/SCORE</a:t>
            </a:r>
            <a:endParaRPr sz="720"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4E05A8C8-A436-4AAA-8615-82FA7D92C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5752" y="2596896"/>
            <a:ext cx="0" cy="7863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59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6FC26836-E090-4DE2-A4F8-EB9FF808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2971800"/>
            <a:ext cx="100584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>
              <a:alpha val="92000"/>
            </a:srgbClr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2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AGGREGATE</a:t>
            </a:r>
            <a:endParaRPr sz="720"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4B6E6018-8AA4-47B2-8EDF-09A5AF22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5239512"/>
            <a:ext cx="5559552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156F1043-DB22-4489-84B3-57ACDE79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5330952"/>
            <a:ext cx="532180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C4 → C4R과 C4 → C6은 병렬 분기다. C6−C4R은 두 결과의 contrast이지 C4→C4R→C6 순차 경로가 아니다.</a:t>
            </a:r>
            <a:endParaRPr sz="850"/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FC98093D-347F-4E63-B26C-01CBF6D4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5239512"/>
            <a:ext cx="539496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7F6F3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1F96000A-AD4B-4390-A72D-4BA1FFA7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5330952"/>
            <a:ext cx="5157216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보존: model·prompt·parameter·request metadata·raw response. 구분: proposed/applied action, L1 instruction/변수별 clipping.</a:t>
            </a:r>
            <a:endParaRPr sz="850"/>
          </a:p>
        </p:txBody>
      </p:sp>
      <p:sp>
        <p:nvSpPr>
          <p:cNvPr id="42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EB02BA2F-702B-4E0F-9076-0F91F8CFFA0D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95760" y="651967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112460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3C33BBB-31AB-43E3-B21F-7EC53B1B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92608"/>
            <a:ext cx="112471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5. 분석 → thesis_outputs → 논문</a:t>
            </a:r>
            <a:endParaRPr sz="2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C7517E8-F981-44E9-BFA7-3316CB76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713232"/>
            <a:ext cx="10972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선택 FrozenReplay의 실제 행을 V10 분석에 넣고, DOCX inventory에 맞춰 73개 Excel workbook으로 계산·연결한다.</a:t>
            </a:r>
            <a:endParaRPr sz="10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B4A1AE1-CF4C-4EB4-89DE-0B7A7036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1417320"/>
            <a:ext cx="2148840" cy="1481328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397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9CA3AF">
                <a:alpha val="12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0A976DB-2E74-4294-8386-58C593C8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1417320"/>
            <a:ext cx="73152" cy="1481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7AD7103-283B-489A-95C3-0E172D7E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17904"/>
            <a:ext cx="19019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현재 실행 산출물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FEA749F-71E0-44E7-88FA-2BA1E522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10512"/>
            <a:ext cx="1901952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PATH  data/runs/V11_ORACLE_CLEAN_ACTUAL/</a:t>
            </a:r>
            <a:endParaRPr sz="730"/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       saved_previous_working_set/{final_freeze,analysis}</a:t>
            </a:r>
            <a:endParaRPr sz="730"/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PRODUCER  completed FrozenReplay</a:t>
            </a:r>
            <a:endParaRPr sz="730"/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GRAIN  실제 stage/analysis output</a:t>
            </a:r>
            <a:endParaRPr sz="73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FD28260-B4D0-4496-840A-A2C47179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648" y="1417320"/>
            <a:ext cx="2423160" cy="1481328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E7F6F3"/>
          </a:solidFill>
          <a:ln xmlns:a="http://schemas.openxmlformats.org/drawingml/2006/main" w="1397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9CA3AF">
                <a:alpha val="12000"/>
              </a:srgbClr>
            </a:outerShdw>
          </a:effectLst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B0DB5657-CBA5-4474-9804-39EC735B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8648" y="1417320"/>
            <a:ext cx="73152" cy="1481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F0843E6-08EC-4678-9B73-264560E3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4096" y="1517904"/>
            <a:ext cx="217627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V10 논문 분석</a:t>
            </a:r>
            <a:endParaRPr sz="12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1116D64-DE6D-4D9D-B3EE-D66E27A7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4096" y="1810512"/>
            <a:ext cx="2176272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PATH  src/credit_recourse/analysis</a:t>
            </a:r>
            <a:endParaRPr sz="730"/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PRODUCER  paper_repro + E2/E3/E4</a:t>
            </a:r>
            <a:endParaRPr sz="730"/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GRAIN  contrast/model/budget/firm</a:t>
            </a:r>
            <a:endParaRPr sz="730"/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MEANING  FILTER · JOIN · TEST · AGGREGATE</a:t>
            </a:r>
            <a:endParaRPr sz="73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3C3E2908-2D7A-44AC-A3E5-180DDF7C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288" y="1417320"/>
            <a:ext cx="2212848" cy="1481328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9CA3AF">
                <a:alpha val="12000"/>
              </a:srgbClr>
            </a:outerShdw>
          </a:effectLst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9AB7818-1DCF-4C10-963E-942E636AC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288" y="1417320"/>
            <a:ext cx="73152" cy="1481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014E077-53D3-4B02-9F8F-01F241BD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8736" y="1517904"/>
            <a:ext cx="19659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분석 산출물</a:t>
            </a:r>
            <a:endParaRPr sz="12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3FC70CE-706E-408E-A5B8-EC7A8E9D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8736" y="1810512"/>
            <a:ext cx="1965960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PATH  selected run/analysis/paper_repro</a:t>
            </a:r>
            <a:endParaRPr sz="730"/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PRODUCER  V10 post-freeze/extension</a:t>
            </a:r>
            <a:endParaRPr sz="730"/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GRAIN  논문 contrast/표 행</a:t>
            </a:r>
            <a:endParaRPr sz="730"/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MEANING  CSV/Parquet/JSON 계산결과</a:t>
            </a:r>
            <a:endParaRPr sz="73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F5249798-3D5D-46E4-A244-CF23481D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1417320"/>
            <a:ext cx="2788920" cy="1481328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97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9CA3AF">
                <a:alpha val="12000"/>
              </a:srgbClr>
            </a:outerShdw>
          </a:effectLst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3E898CF6-BCC8-4ED9-9B9A-C4D1221B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1417320"/>
            <a:ext cx="73152" cy="1481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91E838F0-98D5-4DAE-9399-C55AC8E6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1517904"/>
            <a:ext cx="2542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논문 Excel</a:t>
            </a:r>
            <a:endParaRPr sz="12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4A2B067-50C1-4F0E-8742-0F3BEC5E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1810512"/>
            <a:ext cx="2542032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PATH  data/thesis_outputs</a:t>
            </a:r>
            <a:endParaRPr sz="730"/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PRODUCER  BUILD_THESIS_OUTPUTS.ps1</a:t>
            </a:r>
            <a:endParaRPr sz="730"/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GRAIN  표 57 · 그림 14 · ledger/index 2</a:t>
            </a:r>
            <a:endParaRPr sz="730"/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MEANING  선택 run 기반 XLSX 73개</a:t>
            </a:r>
            <a:endParaRPr sz="73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7E06A359-867A-4E3C-9775-4F64C6EE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6312" y="2148840"/>
            <a:ext cx="3840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59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9E7F572-36FF-4CF5-8A48-65ABD847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416" y="1993392"/>
            <a:ext cx="100584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>
              <a:alpha val="92000"/>
            </a:srgbClr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2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READ</a:t>
            </a:r>
            <a:endParaRPr sz="72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277842E2-8C30-45B0-87AF-5770AD93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2148840"/>
            <a:ext cx="3840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59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F002C84C-47E6-4A81-85EB-C4F01059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0056" y="1993392"/>
            <a:ext cx="100584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>
              <a:alpha val="92000"/>
            </a:srgbClr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2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EXPORT</a:t>
            </a:r>
            <a:endParaRPr sz="72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7DF01180-CFDD-431A-ADBB-8B2DF49A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148840"/>
            <a:ext cx="37490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590">
            <a:solidFill>
              <a:srgbClr val="D97706"/>
            </a:solidFill>
            <a:prstDash val="solid"/>
            <a:tailEnd type="triangle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1D5E180-35FF-4C5F-9677-43C8BAF8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812" y="1993392"/>
            <a:ext cx="100584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>
              <a:alpha val="92000"/>
            </a:srgbClr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2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EXPORT</a:t>
            </a:r>
            <a:endParaRPr sz="72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67EB7E23-47A4-4122-9E5C-FE8EEB27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703320"/>
            <a:ext cx="2971800" cy="132588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9CA3AF">
                <a:alpha val="12000"/>
              </a:srgbClr>
            </a:outerShdw>
          </a:effectLst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716DE5C6-A0F9-4285-B95B-B2A8917F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3703320"/>
            <a:ext cx="73152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F063B623-0671-4E82-9E2E-8E4191B3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03904"/>
            <a:ext cx="272491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논문 DOCX</a:t>
            </a:r>
            <a:endParaRPr sz="12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8D2F5B9B-6009-4D9C-A7EF-9CE35AC9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096512"/>
            <a:ext cx="2724912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PATH  canonical thesis DOCX</a:t>
            </a:r>
            <a:endParaRPr sz="730"/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PRODUCER  OOXML inventory reader</a:t>
            </a:r>
            <a:endParaRPr sz="730"/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GRAIN  표 57 · 그림 14 · 본문 claim</a:t>
            </a:r>
            <a:endParaRPr sz="730"/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MEANING  번호·제목·위치만 동적 추출</a:t>
            </a:r>
            <a:endParaRPr sz="73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A77321A3-6F85-4F41-ACC8-F411CA53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736" y="4343400"/>
            <a:ext cx="9875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59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B642BC68-ADE6-4610-A070-3365D7F2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4187952"/>
            <a:ext cx="100584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>
              <a:alpha val="92000"/>
            </a:srgbClr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2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INVENTORY</a:t>
            </a:r>
            <a:endParaRPr sz="72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E43972FC-5FA0-4481-BF41-B64CD71EF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8576" y="3401568"/>
            <a:ext cx="3017520" cy="187452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E7F6F3"/>
          </a:solidFill>
          <a:ln xmlns:a="http://schemas.openxmlformats.org/drawingml/2006/main" w="1397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9CA3AF">
                <a:alpha val="12000"/>
              </a:srgbClr>
            </a:outerShdw>
          </a:effectLst>
        </p:spPr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C781F7C1-B075-4402-BC52-BDFC09D0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8576" y="3401568"/>
            <a:ext cx="73152" cy="1874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CBCF7B1C-D6B0-44E1-B49D-71174876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4024" y="3502152"/>
            <a:ext cx="27706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Excel 내부 계산선</a:t>
            </a:r>
            <a:endParaRPr sz="12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F36E1246-56C3-4464-82BB-57230B58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4024" y="3794760"/>
            <a:ext cx="2770632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PATH  SOURCE_DATA → ANALYSIS/CHART_DATA → FINAL</a:t>
            </a:r>
            <a:endParaRPr sz="730"/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PRODUCER  workbook builder</a:t>
            </a:r>
            <a:endParaRPr sz="730"/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GRAIN  실제 source cell</a:t>
            </a:r>
            <a:endParaRPr sz="730"/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MEANING  필터·키·계산식·producer·run_id 표시</a:t>
            </a:r>
            <a:endParaRPr sz="730"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3154F8E1-384D-45BA-A254-80E35B1B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4384" y="4343400"/>
            <a:ext cx="9784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59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A2788977-211B-416C-B744-154D6D72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0668" y="4187952"/>
            <a:ext cx="100584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>
              <a:alpha val="92000"/>
            </a:srgbClr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2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EDIT</a:t>
            </a:r>
            <a:endParaRPr sz="720"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0F63C7CB-DED9-4B14-80CD-B7452FE2D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3703320"/>
            <a:ext cx="2606040" cy="132588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9CA3AF">
                <a:alpha val="12000"/>
              </a:srgbClr>
            </a:outerShdw>
          </a:effectLst>
        </p:spPr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1A9F9C10-608B-49F0-B5F7-1538E817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3703320"/>
            <a:ext cx="73152" cy="1325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972704ED-5B6C-4F27-8FAA-6434D72D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3803904"/>
            <a:ext cx="23591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논문 사용</a:t>
            </a:r>
            <a:endParaRPr sz="1200"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046E8EBE-7ABF-4D12-BB1A-817E63BD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4096512"/>
            <a:ext cx="2359152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PATH  표/그림/본문 수치</a:t>
            </a:r>
            <a:endParaRPr sz="730"/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PRODUCER  Excel에서 사람이 서식·배치 편집</a:t>
            </a:r>
            <a:endParaRPr sz="730"/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GRAIN  논문 item</a:t>
            </a:r>
            <a:endParaRPr sz="730"/>
          </a:p>
          <a:p xmlns:a="http://schemas.openxmlformats.org/drawingml/2006/main">
            <a:pPr marL="0" indent="0">
              <a:buNone/>
            </a:pPr>
            <a:r>
              <a:rPr sz="73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MEANING  값은 선택 run에서 계산</a:t>
            </a:r>
            <a:endParaRPr sz="730"/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E087025A-3061-45E2-8D20-A521B7D7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5513832"/>
            <a:ext cx="10625328" cy="49377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2700">
            <a:solidFill>
              <a:srgbClr val="B91C1C"/>
            </a:solidFill>
            <a:prstDash val="solid"/>
          </a:ln>
        </p:spPr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15746802-4D46-436D-9AD1-BD75DAD8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5605272"/>
            <a:ext cx="103875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계산 입력 아님: 논문 인쇄값 · V10 TABLE_VALUES · 기존 paper CSV/PNG. 모두 비교 reference이며 source cell이 아니다.</a:t>
            </a:r>
            <a:endParaRPr sz="850"/>
          </a:p>
        </p:txBody>
      </p:sp>
      <p:sp>
        <p:nvSpPr>
          <p:cNvPr id="44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DF8537E-B3EC-453B-9D66-E250BF430301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95760" y="651967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178415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77C60BC-88D5-4EAA-B830-4679C47B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92608"/>
            <a:ext cx="112471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6. 장·부록별 terminal</a:t>
            </a:r>
            <a:endParaRPr sz="2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54C3787-1B62-45E0-A2AD-6846FA60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713232"/>
            <a:ext cx="10972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DOCX가 동적으로 식별한 terminal 71개(표 57·그림 14)를 producer에 연결하고, index·claim ledger를 더해 XLSX 73개를 만든다.</a:t>
            </a:r>
            <a:endParaRPr sz="105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4DE1B1C-B2D8-4F89-8D9A-D0CA9FE5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80160"/>
            <a:ext cx="11109960" cy="43159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BD5E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D9395E9-1C26-4385-9B6E-0A04DB4DC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517904"/>
            <a:ext cx="1920240" cy="420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F2C7450-4E6D-4FC5-AEE9-1D55E2E2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45920"/>
            <a:ext cx="177393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논문 구간</a:t>
            </a:r>
            <a:endParaRPr sz="92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0F4CABD-4B7D-4000-BC03-00D99564D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1517904"/>
            <a:ext cx="1965960" cy="420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CB1AF93-8CA2-456F-90C0-64882344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6624" y="1645920"/>
            <a:ext cx="181965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terminal ID</a:t>
            </a:r>
            <a:endParaRPr sz="92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3FDFA20-65E6-44B5-84AE-FE3A2C54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1517904"/>
            <a:ext cx="3154680" cy="420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219B33B-6545-4E6C-A224-DC83DB5B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1645920"/>
            <a:ext cx="30083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실제 producer 영역</a:t>
            </a:r>
            <a:endParaRPr sz="92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8F103CC1-A151-4F65-8756-F99002E5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1517904"/>
            <a:ext cx="3657600" cy="42062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D938803-460A-4DD1-BF0B-861E8B10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1645920"/>
            <a:ext cx="351129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2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심사위원이 확인할 내용</a:t>
            </a:r>
            <a:endParaRPr sz="92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D96B865-9448-4DBB-8D06-675C2E97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56816"/>
            <a:ext cx="192024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6350">
            <a:solidFill>
              <a:srgbClr val="E2E8F0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23A660B-B9BE-4DC2-9A50-34C994568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48256"/>
            <a:ext cx="177393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3장 데이터·설계</a:t>
            </a:r>
            <a:endParaRPr sz="81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CA6A7AE0-AE04-43CF-9255-134EF7D97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1956816"/>
            <a:ext cx="196596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6350">
            <a:solidFill>
              <a:srgbClr val="E2E8F0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EB998B9-BFFD-4BF7-BD05-EB7918540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6624" y="2048256"/>
            <a:ext cx="181965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T3-1…T3-6</a:t>
            </a:r>
            <a:endParaRPr sz="81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B01616D3-69F7-4E14-B2B5-80C569DF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1956816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6350">
            <a:solidFill>
              <a:srgbClr val="E2E8F0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2C6393C-55A4-49F3-9F9A-35649C20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2048256"/>
            <a:ext cx="300837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Stage0/1 · candidate · 조건 정의</a:t>
            </a:r>
            <a:endParaRPr sz="81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4B2517BE-7BCB-4A06-BC14-8D33DE0F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1956816"/>
            <a:ext cx="365760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6350">
            <a:solidFill>
              <a:srgbClr val="E2E8F0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E2C9800-B904-428C-8F99-190011D29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2048256"/>
            <a:ext cx="351129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표본 흐름·설계; 경험적 셀만 계산</a:t>
            </a:r>
            <a:endParaRPr sz="81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391454DC-9CD7-44D6-84B6-C7369D56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514600"/>
            <a:ext cx="192024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350">
            <a:solidFill>
              <a:srgbClr val="E2E8F0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6CD3B8A-C0C4-45AC-A9E6-AB8AEFAD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06040"/>
            <a:ext cx="177393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4장 Oracle·RL</a:t>
            </a:r>
            <a:endParaRPr sz="81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24114DF0-7539-4E78-9BF4-CEC0D38F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514600"/>
            <a:ext cx="196596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350">
            <a:solidFill>
              <a:srgbClr val="E2E8F0"/>
            </a:solidFill>
            <a:prstDash val="solid"/>
          </a:ln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07ABB4B-C129-4C7A-80CB-EC69FF95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6624" y="2606040"/>
            <a:ext cx="181965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T4-1…T4-6 · F4</a:t>
            </a:r>
            <a:endParaRPr sz="81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4444A2F7-DA81-40D7-B2E1-947C09C7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2514600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350">
            <a:solidFill>
              <a:srgbClr val="E2E8F0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3C4F1306-C60A-4BDB-A8B6-4654EFAA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2606040"/>
            <a:ext cx="300837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Oracle validation · Stage2 · Stage6</a:t>
            </a:r>
            <a:endParaRPr sz="81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C4214912-90D6-4463-88E7-8CA75D5E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2514600"/>
            <a:ext cx="365760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350">
            <a:solidFill>
              <a:srgbClr val="E2E8F0"/>
            </a:solidFill>
            <a:prstDash val="solid"/>
          </a:ln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F326E3EB-9AD5-4716-8028-90AD2910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2606040"/>
            <a:ext cx="351129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Oracle 타당성·Simulator·Candidate-IQL</a:t>
            </a:r>
            <a:endParaRPr sz="81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85EBCC6C-A4F9-4CD4-816A-9769609B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72384"/>
            <a:ext cx="192024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6350">
            <a:solidFill>
              <a:srgbClr val="E2E8F0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071BEC57-8F4A-4639-9377-E279F207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163824"/>
            <a:ext cx="177393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5장 LLM 본실험</a:t>
            </a:r>
            <a:endParaRPr sz="81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CE8F641B-F372-45DA-A129-6BBC06F1E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3072384"/>
            <a:ext cx="196596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6350">
            <a:solidFill>
              <a:srgbClr val="E2E8F0"/>
            </a:solidFill>
            <a:prstDash val="solid"/>
          </a:ln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0EA0AF4-3D0B-4440-81CE-C73AC71E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6624" y="3163824"/>
            <a:ext cx="181965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T5-1…T5-8 · F5…F8</a:t>
            </a:r>
            <a:endParaRPr sz="81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B317E326-3B23-46BD-A8F0-5320AE49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3072384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6350">
            <a:solidFill>
              <a:srgbClr val="E2E8F0"/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1D1A54CC-0F30-437C-8041-FAD1A13D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3163824"/>
            <a:ext cx="300837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Stage7–9 · V10 post-freeze</a:t>
            </a:r>
            <a:endParaRPr sz="81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C681CB54-0FB6-49DD-BC8C-4DAC5205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3072384"/>
            <a:ext cx="365760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6350">
            <a:solidFill>
              <a:srgbClr val="E2E8F0"/>
            </a:solidFill>
            <a:prstDash val="solid"/>
          </a:ln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FE6B46F7-0CA7-47A9-A879-8CAC76088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3163824"/>
            <a:ext cx="351129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모델/조건/ablation/budget</a:t>
            </a:r>
            <a:endParaRPr sz="810"/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E6D196E7-6DAE-4588-A56F-4A19F2BC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630168"/>
            <a:ext cx="192024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350">
            <a:solidFill>
              <a:srgbClr val="E2E8F0"/>
            </a:solidFill>
            <a:prstDash val="solid"/>
          </a:ln>
        </p:spPr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2EC4890B-9657-4D78-99C0-2B35F7BF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721608"/>
            <a:ext cx="177393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6장 확장분석</a:t>
            </a:r>
            <a:endParaRPr sz="810"/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E67C090E-9E19-4AEE-824C-756C60C8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3630168"/>
            <a:ext cx="196596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350">
            <a:solidFill>
              <a:srgbClr val="E2E8F0"/>
            </a:solidFill>
            <a:prstDash val="solid"/>
          </a:ln>
        </p:spPr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54505436-5196-4650-8426-D55E98D0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6624" y="3721608"/>
            <a:ext cx="181965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T6-1…T6-9 · F9…F11</a:t>
            </a:r>
            <a:endParaRPr sz="810"/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040CD484-FC0E-40AB-9F5E-51716002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3630168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350">
            <a:solidFill>
              <a:srgbClr val="E2E8F0"/>
            </a:solidFill>
            <a:prstDash val="solid"/>
          </a:ln>
        </p:spPr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99725E62-1AA0-4F15-B8E3-0C54DA0F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3721608"/>
            <a:ext cx="300837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C4R/N5M/E2–E4</a:t>
            </a:r>
            <a:endParaRPr sz="810"/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AC424CCF-859F-43F3-A094-9D301E7F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3630168"/>
            <a:ext cx="365760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350">
            <a:solidFill>
              <a:srgbClr val="E2E8F0"/>
            </a:solidFill>
            <a:prstDash val="solid"/>
          </a:ln>
        </p:spPr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CB6960CD-5742-44AD-B5E2-6469A511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3721608"/>
            <a:ext cx="351129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자기재검토·외부참조·축 기여</a:t>
            </a:r>
            <a:endParaRPr sz="810"/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69B687CE-E865-40AB-8228-80D779C3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187952"/>
            <a:ext cx="192024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6350">
            <a:solidFill>
              <a:srgbClr val="E2E8F0"/>
            </a:solidFill>
            <a:prstDash val="solid"/>
          </a:ln>
        </p:spPr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8FC5D256-7DC0-40D5-A457-E0E6B038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279392"/>
            <a:ext cx="177393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부록 B–I</a:t>
            </a:r>
            <a:endParaRPr sz="810"/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B8428D4E-39DD-4CFA-8E02-33A74D08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4187952"/>
            <a:ext cx="196596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6350">
            <a:solidFill>
              <a:srgbClr val="E2E8F0"/>
            </a:solidFill>
            <a:prstDash val="solid"/>
          </a:ln>
        </p:spPr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49A85ED9-30E1-4729-87C9-138DA459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6624" y="4279392"/>
            <a:ext cx="181965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TB…TI · FH</a:t>
            </a:r>
            <a:endParaRPr sz="810"/>
          </a:p>
        </p:txBody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04947D4A-17DF-4113-8A81-1DFCA71A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4187952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6350">
            <a:solidFill>
              <a:srgbClr val="E2E8F0"/>
            </a:solidFill>
            <a:prstDash val="solid"/>
          </a:ln>
        </p:spPr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D4A909F9-D7A4-4652-BA07-E7880D20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4279392"/>
            <a:ext cx="300837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동일 producer의 상세 tables</a:t>
            </a:r>
            <a:endParaRPr sz="810"/>
          </a:p>
        </p:txBody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BA4407E4-1E68-463D-B9E1-36C07CAF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4187952"/>
            <a:ext cx="365760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8"/>
          </a:solidFill>
          <a:ln xmlns:a="http://schemas.openxmlformats.org/drawingml/2006/main" w="6350">
            <a:solidFill>
              <a:srgbClr val="E2E8F0"/>
            </a:solidFill>
            <a:prstDash val="solid"/>
          </a:ln>
        </p:spPr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D5E38F25-3278-4E80-B7BA-37EF2211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4279392"/>
            <a:ext cx="351129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검정·민감도·반복성·추가 그림</a:t>
            </a:r>
            <a:endParaRPr sz="810"/>
          </a:p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A434D7A6-5650-480F-8F6A-8DFDB6F2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745736"/>
            <a:ext cx="192024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350">
            <a:solidFill>
              <a:srgbClr val="E2E8F0"/>
            </a:solidFill>
            <a:prstDash val="solid"/>
          </a:ln>
        </p:spPr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7E608517-ACFA-4408-A104-CA342634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837176"/>
            <a:ext cx="177393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부록 J</a:t>
            </a:r>
            <a:endParaRPr sz="810"/>
          </a:p>
        </p:txBody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0C4E4446-525B-4FFE-8A0E-BAC58C6C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4745736"/>
            <a:ext cx="196596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350">
            <a:solidFill>
              <a:srgbClr val="E2E8F0"/>
            </a:solidFill>
            <a:prstDash val="solid"/>
          </a:ln>
        </p:spPr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1024710A-0D13-4A88-9642-5BBEE33A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6624" y="4837176"/>
            <a:ext cx="181965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TJ-U</a:t>
            </a:r>
            <a:endParaRPr sz="810"/>
          </a:p>
        </p:txBody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F4A4957C-A65B-44A6-B414-805F4AAD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4745736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350">
            <a:solidFill>
              <a:srgbClr val="E2E8F0"/>
            </a:solidFill>
            <a:prstDash val="solid"/>
          </a:ln>
        </p:spPr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4F7F246B-4978-4ECC-B1FF-6D5A1E5C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584" y="4837176"/>
            <a:ext cx="300837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구현 경로 설명</a:t>
            </a:r>
            <a:endParaRPr sz="810"/>
          </a:p>
        </p:txBody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7EC10423-F72B-4320-B540-53855D85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4745736"/>
            <a:ext cx="365760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6350">
            <a:solidFill>
              <a:srgbClr val="E2E8F0"/>
            </a:solidFill>
            <a:prstDash val="solid"/>
          </a:ln>
        </p:spPr>
      </p:sp>
      <p:sp>
        <p:nvSpPr>
          <p:cNvPr id="60" name="Text 58">
            <a:extLst xmlns:a="http://schemas.openxmlformats.org/drawingml/2006/main">
              <a:ext uri="{FF2B5EF4-FFF2-40B4-BE49-F238E27FC236}">
                <a16:creationId xmlns:a16="http://schemas.microsoft.com/office/drawing/2014/main" id="{4B9271B8-24AF-458B-8BA3-36010D29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4837176"/>
            <a:ext cx="351129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경험적 계산 대상 아님</a:t>
            </a:r>
            <a:endParaRPr sz="810"/>
          </a:p>
        </p:txBody>
      </p:sp>
      <p:sp>
        <p:nvSpPr>
          <p:cNvPr id="61" name="Shape 59">
            <a:extLst xmlns:a="http://schemas.openxmlformats.org/drawingml/2006/main">
              <a:ext uri="{FF2B5EF4-FFF2-40B4-BE49-F238E27FC236}">
                <a16:creationId xmlns:a16="http://schemas.microsoft.com/office/drawing/2014/main" id="{AED09F7B-D53D-4870-99C8-C765DB7A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797296"/>
            <a:ext cx="10671048" cy="4754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7F6F3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15BAC0FA-DCC3-4BB2-9E4F-332E7034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" y="5888736"/>
            <a:ext cx="1043330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THESIS_OUTPUT_INDEX.xlsx는 71개 terminal의 상태와 실제 Excel 경로를 보여준다. 산출물 73개 전체가 선택 run을 가리키며 수식 오류는 0건이었다.</a:t>
            </a:r>
            <a:endParaRPr sz="850"/>
          </a:p>
        </p:txBody>
      </p:sp>
      <p:sp>
        <p:nvSpPr>
          <p:cNvPr id="63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F45DF9A7-C61C-497D-9786-ECA0403448BE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95760" y="651967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217161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654556C-C9F0-41CB-8CD3-E5211ED7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92608"/>
            <a:ext cx="112471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7. FrozenReplay와 Clean Run의 provenance·gap</a:t>
            </a:r>
            <a:endParaRPr sz="2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0693F66-0514-4685-A9D8-ED5C5608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713232"/>
            <a:ext cx="10972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같은 downstream 분석을 쓰지만 FrozenReplay는 역사 snapshot, Clean은 raw에서 새 계산이라는 provenance 차이가 있다.</a:t>
            </a:r>
            <a:endParaRPr sz="10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AB8E396-5BC4-4D88-8540-1B1970C1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34440"/>
            <a:ext cx="5029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FROZEN REPLAY</a:t>
            </a:r>
            <a:endParaRPr sz="15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F7D40EB-A863-43F3-A51C-A3A4E175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1234440"/>
            <a:ext cx="5029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CLEAN RUN</a:t>
            </a:r>
            <a:endParaRPr sz="15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0AA42E9-D607-4ECD-B411-C819FABC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664208"/>
            <a:ext cx="5010912" cy="73152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1397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9CA3AF">
                <a:alpha val="12000"/>
              </a:srgbClr>
            </a:outerShdw>
          </a:effectLst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3E64FCA-DEF8-4567-887D-19011999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664208"/>
            <a:ext cx="7315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9415A4C-52D0-41DC-8B03-7598827F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764792"/>
            <a:ext cx="476402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불변 입력</a:t>
            </a:r>
            <a:endParaRPr sz="102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A504E9E-BAF5-4CE9-823C-9909A00D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057400"/>
            <a:ext cx="476402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2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PATH  frozen_outputs/final_freeze</a:t>
            </a:r>
            <a:endParaRPr sz="720"/>
          </a:p>
          <a:p xmlns:a="http://schemas.openxmlformats.org/drawingml/2006/main">
            <a:pPr marL="0" indent="0">
              <a:buNone/>
            </a:pPr>
            <a:r>
              <a:rPr sz="72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MEANING  읽기 전용 역사 Oracle·RL·LLM</a:t>
            </a:r>
            <a:endParaRPr sz="72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4C94CB8-0D80-4E2F-852F-4D2E2C43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2404872"/>
            <a:ext cx="0" cy="2103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59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B4A0D65-E0DB-43A8-84FB-E0CD367E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6896" y="2491740"/>
            <a:ext cx="100584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>
              <a:alpha val="92000"/>
            </a:srgbClr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2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COPY</a:t>
            </a:r>
            <a:endParaRPr sz="72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33F52BC3-144C-4DA4-9197-A77FAAD7B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642616"/>
            <a:ext cx="5010912" cy="73152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9CA3AF">
                <a:alpha val="12000"/>
              </a:srgbClr>
            </a:outerShdw>
          </a:effectLst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61CE3AEB-B91A-4981-AD6E-CDD408EE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642616"/>
            <a:ext cx="7315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025CC74-86EF-45DE-BC30-C742421B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743200"/>
            <a:ext cx="476402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작업 복사</a:t>
            </a:r>
            <a:endParaRPr sz="102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55F1143-D895-4A82-BAFD-1154D015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035808"/>
            <a:ext cx="476402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2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PATH  data/final_freeze</a:t>
            </a:r>
            <a:endParaRPr sz="720"/>
          </a:p>
          <a:p xmlns:a="http://schemas.openxmlformats.org/drawingml/2006/main">
            <a:pPr marL="0" indent="0">
              <a:buNone/>
            </a:pPr>
            <a:r>
              <a:rPr sz="72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MEANING  보존본을 복사한 분석 작업본</a:t>
            </a:r>
            <a:endParaRPr sz="72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E997661-C45A-4104-AB27-ABA08E2C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3383280"/>
            <a:ext cx="0" cy="2103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59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6AA1AB3-9434-4BA4-9DA4-1E5A9E6F6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6896" y="3470148"/>
            <a:ext cx="100584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>
              <a:alpha val="92000"/>
            </a:srgbClr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2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AGGREGATE</a:t>
            </a:r>
            <a:endParaRPr sz="72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DEB809A9-C237-48A0-B6DF-507935BD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21024"/>
            <a:ext cx="5010912" cy="73152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9CA3AF">
                <a:alpha val="12000"/>
              </a:srgbClr>
            </a:outerShdw>
          </a:effectLst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C3165888-52BD-4045-A127-08AC834D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21024"/>
            <a:ext cx="7315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E5B65DA-E320-4E8E-8FB8-2A9D3AB8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721608"/>
            <a:ext cx="476402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실제 재계산</a:t>
            </a:r>
            <a:endParaRPr sz="102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15C2FB4-6656-44E7-80F9-5206D1A3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014216"/>
            <a:ext cx="476402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2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PATH  data/analysis</a:t>
            </a:r>
            <a:endParaRPr sz="720"/>
          </a:p>
          <a:p xmlns:a="http://schemas.openxmlformats.org/drawingml/2006/main">
            <a:pPr marL="0" indent="0">
              <a:buNone/>
            </a:pPr>
            <a:r>
              <a:rPr sz="72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MEANING  V10 post-freeze · shuffle · E2–E4 실제 재계산</a:t>
            </a:r>
            <a:endParaRPr sz="72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EC9398AE-5050-4A06-A97F-76847946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9816" y="4361688"/>
            <a:ext cx="0" cy="2103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59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65EBB476-EDF9-40A1-B997-E80DCF648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6896" y="4448556"/>
            <a:ext cx="100584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>
              <a:alpha val="92000"/>
            </a:srgbClr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2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EXPORT</a:t>
            </a:r>
            <a:endParaRPr sz="72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816BE6E2-6203-47B2-B039-A505E37F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599432"/>
            <a:ext cx="5010912" cy="73152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9CA3AF">
                <a:alpha val="12000"/>
              </a:srgbClr>
            </a:outerShdw>
          </a:effectLst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AB81DB65-43C1-4214-A0CF-4DFD2D9E8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599432"/>
            <a:ext cx="7315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12700">
            <a:solidFill>
              <a:srgbClr val="0F766E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7E2A8057-C333-49D2-8C37-808DC8B0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700016"/>
            <a:ext cx="476402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논문 Excel</a:t>
            </a:r>
            <a:endParaRPr sz="102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E2BD0AA-C884-46E3-BC05-96746968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992624"/>
            <a:ext cx="476402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2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PATH  data/thesis_outputs</a:t>
            </a:r>
            <a:endParaRPr sz="720"/>
          </a:p>
          <a:p xmlns:a="http://schemas.openxmlformats.org/drawingml/2006/main">
            <a:pPr marL="0" indent="0">
              <a:buNone/>
            </a:pPr>
            <a:r>
              <a:rPr sz="72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MEANING  선택 FrozenReplay run의 실제 수치</a:t>
            </a:r>
            <a:endParaRPr sz="72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B9C23AA7-E90D-4213-AD34-467A3D1C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1664208"/>
            <a:ext cx="5010912" cy="73152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1397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9CA3AF">
                <a:alpha val="12000"/>
              </a:srgbClr>
            </a:outerShdw>
          </a:effectLst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9907FBF8-3B22-4B44-81F2-CC0209AC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1664208"/>
            <a:ext cx="7315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1712616E-3D89-4173-AC4D-C427EAA3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5976" y="1764792"/>
            <a:ext cx="476402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원자료</a:t>
            </a:r>
            <a:endParaRPr sz="102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ACD17074-41F7-427A-BEF8-77BFC3FD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5976" y="2057400"/>
            <a:ext cx="476402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2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PATH  data/raw</a:t>
            </a:r>
            <a:endParaRPr sz="720"/>
          </a:p>
          <a:p xmlns:a="http://schemas.openxmlformats.org/drawingml/2006/main">
            <a:pPr marL="0" indent="0">
              <a:buNone/>
            </a:pPr>
            <a:r>
              <a:rPr sz="72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MEANING  clean mode의 유일한 compute parent</a:t>
            </a:r>
            <a:endParaRPr sz="72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11ECA367-6796-4DBE-8A6E-B60F7E28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984" y="2404872"/>
            <a:ext cx="0" cy="2103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59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30D0449F-BBB9-479D-BC76-BB98ABA3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3064" y="2491740"/>
            <a:ext cx="100584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>
              <a:alpha val="92000"/>
            </a:srgbClr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2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TRAIN</a:t>
            </a:r>
            <a:endParaRPr sz="72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7CDF64CD-A48B-409E-99FF-2E48BE0B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2642616"/>
            <a:ext cx="5010912" cy="73152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9CA3AF">
                <a:alpha val="12000"/>
              </a:srgbClr>
            </a:outerShdw>
          </a:effectLst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82FDD007-B703-4773-BC45-74CCECD9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2642616"/>
            <a:ext cx="7315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21AA2058-AFD7-44FD-9474-F6B741C4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5976" y="2743200"/>
            <a:ext cx="476402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Stage0–6</a:t>
            </a:r>
            <a:endParaRPr sz="102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8816EABA-B6E8-4A64-BB89-7A643016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5976" y="3035808"/>
            <a:ext cx="476402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2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PATH  data/final_freeze</a:t>
            </a:r>
            <a:endParaRPr sz="720"/>
          </a:p>
          <a:p xmlns:a="http://schemas.openxmlformats.org/drawingml/2006/main">
            <a:pPr marL="0" indent="0">
              <a:buNone/>
            </a:pPr>
            <a:r>
              <a:rPr sz="72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MEANING  OracleClean·OracleRLClean 실제 완료(exit 0)</a:t>
            </a:r>
            <a:endParaRPr sz="720"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FBA875FA-8B01-4AB6-ABB1-9AA2FFEE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984" y="3383280"/>
            <a:ext cx="0" cy="2103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59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86FBEA34-6B6A-4D4F-A383-AEAACCE7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3064" y="3470148"/>
            <a:ext cx="100584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>
              <a:alpha val="92000"/>
            </a:srgbClr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2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LIVE API</a:t>
            </a:r>
            <a:endParaRPr sz="720"/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7FFE828C-1DDC-4930-9E81-1AAF1E07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3621024"/>
            <a:ext cx="5010912" cy="73152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9CA3AF">
                <a:alpha val="12000"/>
              </a:srgbClr>
            </a:outerShdw>
          </a:effectLst>
        </p:spPr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27CA0E3C-9CE3-416E-B2F3-02255062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3621024"/>
            <a:ext cx="7315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721E6DD0-B0E1-4A5E-9F50-83A31B48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5976" y="3721608"/>
            <a:ext cx="476402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Stage7–9</a:t>
            </a:r>
            <a:endParaRPr sz="1020"/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3589EE16-8337-49D4-8176-B2FB5F08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5976" y="4014216"/>
            <a:ext cx="476402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2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PATH  llm_runs/&lt;fresh run&gt;</a:t>
            </a:r>
            <a:endParaRPr sz="720"/>
          </a:p>
          <a:p xmlns:a="http://schemas.openxmlformats.org/drawingml/2006/main">
            <a:pPr marL="0" indent="0">
              <a:buNone/>
            </a:pPr>
            <a:r>
              <a:rPr sz="72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MEANING  key 필요 · live Stage7–9는 미실행</a:t>
            </a:r>
            <a:endParaRPr sz="720"/>
          </a:p>
          <a:p xmlns:a="http://schemas.openxmlformats.org/drawingml/2006/main">
            <a:pPr marL="0" indent="0">
              <a:buNone/>
            </a:pPr>
            <a:r>
              <a:rPr sz="72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PRESERVE  model/prompt/params/raw response/metadata</a:t>
            </a:r>
            <a:endParaRPr sz="720"/>
          </a:p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D6A45442-24EE-4DFB-9904-BC17827C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984" y="4361688"/>
            <a:ext cx="0" cy="21031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59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E882B62B-2875-4236-9226-B994349F7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3064" y="4448556"/>
            <a:ext cx="1005840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>
              <a:alpha val="92000"/>
            </a:srgbClr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2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AGGREGATE</a:t>
            </a:r>
            <a:endParaRPr sz="720"/>
          </a:p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C1A3F690-7A2E-4F99-860A-DEF8B902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4599432"/>
            <a:ext cx="5010912" cy="73152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970">
            <a:solidFill>
              <a:srgbClr val="CBD5E1"/>
            </a:solidFill>
            <a:prstDash val="solid"/>
          </a:ln>
          <a:effectLst xmlns:a="http://schemas.openxmlformats.org/drawingml/2006/main">
            <a:outerShdw blurRad="12700" dist="50800" dir="2700000" sx="100000" sy="100000" kx="0" ky="0" algn="bl" rotWithShape="0">
              <a:srgbClr val="9CA3AF">
                <a:alpha val="12000"/>
              </a:srgbClr>
            </a:outerShdw>
          </a:effectLst>
        </p:spPr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772CAA81-A247-4448-9C6C-CA63091D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4599432"/>
            <a:ext cx="73152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12700">
            <a:solidFill>
              <a:srgbClr val="2563EB"/>
            </a:solidFill>
            <a:prstDash val="solid"/>
          </a:ln>
        </p:spPr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CBBB4544-8BAD-42BA-BD86-E103C520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5976" y="4700016"/>
            <a:ext cx="4764024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20" b="1">
                <a:solidFill>
                  <a:srgbClr val="17324D"/>
                </a:solidFill>
                <a:latin typeface="Malgun Gothic"/>
                <a:ea typeface="Malgun Gothic"/>
                <a:cs typeface="Malgun Gothic"/>
              </a:rPr>
              <a:t>분석·Excel</a:t>
            </a:r>
            <a:endParaRPr sz="1020"/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D38AB28D-D53F-42B1-917F-62E82527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5976" y="4992624"/>
            <a:ext cx="476402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2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PATH  data/analysis → thesis_outputs</a:t>
            </a:r>
            <a:endParaRPr sz="720"/>
          </a:p>
          <a:p xmlns:a="http://schemas.openxmlformats.org/drawingml/2006/main">
            <a:pPr marL="0" indent="0">
              <a:buNone/>
            </a:pPr>
            <a:r>
              <a:rPr sz="72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MEANING  FullClean 시 현재 실행 결과를 집계</a:t>
            </a:r>
            <a:endParaRPr sz="720"/>
          </a:p>
        </p:txBody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A9605EF9-24A9-4C78-842C-21FA78F9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650992"/>
            <a:ext cx="501091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2700">
            <a:solidFill>
              <a:srgbClr val="D97706"/>
            </a:solidFill>
            <a:prstDash val="solid"/>
          </a:ln>
        </p:spPr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CCD6334E-63A8-49E7-A794-D3733854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742432"/>
            <a:ext cx="477316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보존 gap: producer snapshot이 없는 역사 LLM은 preserved evidence로만 표시한다. fresh regeneration이라고 주장하지 않는다.</a:t>
            </a:r>
            <a:endParaRPr sz="850"/>
          </a:p>
        </p:txBody>
      </p:sp>
      <p:sp>
        <p:nvSpPr>
          <p:cNvPr id="52" name="Shape 50">
            <a:extLst xmlns:a="http://schemas.openxmlformats.org/drawingml/2006/main">
              <a:ext uri="{FF2B5EF4-FFF2-40B4-BE49-F238E27FC236}">
                <a16:creationId xmlns:a16="http://schemas.microsoft.com/office/drawing/2014/main" id="{720FFFE9-333C-4845-BE47-D2419C36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5650992"/>
            <a:ext cx="5010912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2700">
            <a:solidFill>
              <a:srgbClr val="B91C1C"/>
            </a:solidFill>
            <a:prstDash val="solid"/>
          </a:ln>
        </p:spPr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90033F70-F5F5-414F-B152-CD4E94C1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742432"/>
            <a:ext cx="477316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475569"/>
                </a:solidFill>
                <a:latin typeface="Malgun Gothic"/>
                <a:ea typeface="Malgun Gothic"/>
                <a:cs typeface="Malgun Gothic"/>
              </a:rPr>
              <a:t>원본–논문 gap: 금융업 업종코드의 별도 제외를 Stage0/1 producer에서 확인하지 못했다. 결과를 바꾸는 새 필터는 넣지 않았다.</a:t>
            </a:r>
            <a:endParaRPr sz="850"/>
          </a:p>
        </p:txBody>
      </p:sp>
      <p:sp>
        <p:nvSpPr>
          <p:cNvPr id="54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11E52140-9CF1-4007-A5A1-CAD7DB9FD70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795760" y="651967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1540400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2026-08-31T18:47:14.8170000Z</dcterms:created>
  <dcterms:modified xsi:type="dcterms:W3CDTF">2026-08-31T18:47:14.8170000Z</dcterms:modified>
</coreProperties>
</file>